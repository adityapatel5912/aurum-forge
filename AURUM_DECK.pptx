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radarChart>
        <c:radarStyle val="fill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Aurum Forge</c:v>
                </c:pt>
              </c:strCache>
            </c:strRef>
          </c:tx>
          <c:spPr>
            <a:solidFill>
              <a:srgbClr val="C6A96B"/>
            </a:solidFill>
            <a:ln w="25400" cap="flat">
              <a:solidFill>
                <a:srgbClr val="C6A96B"/>
              </a:solidFill>
              <a:prstDash val="solid"/>
              <a:round/>
            </a:ln>
            <a:effectLst/>
          </c:spPr>
          <c:invertIfNegative val="0"/>
          <c:marker>
            <c:symbol val="circle"/>
            <c:size val="6"/>
            <c:spPr>
              <a:solidFill>
                <a:srgbClr val="C6A96B"/>
              </a:solidFill>
              <a:ln w="9525" cap="flat">
                <a:solidFill>
                  <a:srgbClr val="C6A96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Work</c:v>
                  </c:pt>
                  <c:pt idx="1">
                    <c:v>Intelligent</c:v>
                  </c:pt>
                  <c:pt idx="2">
                    <c:v>Usability</c:v>
                  </c:pt>
                  <c:pt idx="3">
                    <c:v>Responsible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  <c:pt idx="3">
                  <c:v>100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A1931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2094734554"/>
        <c:axId val="2094734552"/>
        <c:axId val="2094734556"/>
      </c:rad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1" i="0" u="none" strike="noStrike">
                <a:solidFill>
                  <a:srgbClr val="0A1931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8A95A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9-1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B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51592" y="502920"/>
            <a:ext cx="1097280" cy="10972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25400">
            <a:solidFill>
              <a:srgbClr val="C6A9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543032" y="594360"/>
            <a:ext cx="164592" cy="0"/>
          </a:xfrm>
          <a:prstGeom prst="line">
            <a:avLst/>
          </a:prstGeom>
          <a:noFill/>
          <a:ln w="19050">
            <a:solidFill>
              <a:srgbClr val="C6A9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43032" y="594360"/>
            <a:ext cx="0" cy="164592"/>
          </a:xfrm>
          <a:prstGeom prst="line">
            <a:avLst/>
          </a:prstGeom>
          <a:noFill/>
          <a:ln w="19050">
            <a:solidFill>
              <a:srgbClr val="C6A96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292840" y="594360"/>
            <a:ext cx="164592" cy="0"/>
          </a:xfrm>
          <a:prstGeom prst="line">
            <a:avLst/>
          </a:prstGeom>
          <a:noFill/>
          <a:ln w="19050">
            <a:solidFill>
              <a:srgbClr val="C6A96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457432" y="594360"/>
            <a:ext cx="0" cy="164592"/>
          </a:xfrm>
          <a:prstGeom prst="line">
            <a:avLst/>
          </a:prstGeom>
          <a:noFill/>
          <a:ln w="19050">
            <a:solidFill>
              <a:srgbClr val="C6A96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543032" y="1508760"/>
            <a:ext cx="164592" cy="0"/>
          </a:xfrm>
          <a:prstGeom prst="line">
            <a:avLst/>
          </a:prstGeom>
          <a:noFill/>
          <a:ln w="19050">
            <a:solidFill>
              <a:srgbClr val="C6A96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543032" y="1344168"/>
            <a:ext cx="0" cy="164592"/>
          </a:xfrm>
          <a:prstGeom prst="line">
            <a:avLst/>
          </a:prstGeom>
          <a:noFill/>
          <a:ln w="19050">
            <a:solidFill>
              <a:srgbClr val="C6A96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292840" y="1508760"/>
            <a:ext cx="164592" cy="0"/>
          </a:xfrm>
          <a:prstGeom prst="line">
            <a:avLst/>
          </a:prstGeom>
          <a:noFill/>
          <a:ln w="19050">
            <a:solidFill>
              <a:srgbClr val="C6A96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457432" y="1344168"/>
            <a:ext cx="0" cy="164592"/>
          </a:xfrm>
          <a:prstGeom prst="line">
            <a:avLst/>
          </a:prstGeom>
          <a:noFill/>
          <a:ln w="19050">
            <a:solidFill>
              <a:srgbClr val="C6A9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451592" y="77724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spc="400" kern="0" dirty="0">
                <a:solidFill>
                  <a:srgbClr val="C6A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0177272" y="167335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9E8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for Demo Video</a:t>
            </a:r>
            <a:endParaRPr lang="en-US" sz="900" dirty="0"/>
          </a:p>
        </p:txBody>
      </p:sp>
      <p:pic>
        <p:nvPicPr>
          <p:cNvPr id="13" name="Image 0" descr="assets/aurum_forge_logo_c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08476" y="1097280"/>
            <a:ext cx="4572000" cy="22860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0" y="3611880"/>
            <a:ext cx="12188952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spc="1200" kern="0" dirty="0">
                <a:solidFill>
                  <a:srgbClr val="0A19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AURUM FORGE</a:t>
            </a:r>
            <a:endParaRPr lang="en-US" sz="4800" dirty="0"/>
          </a:p>
        </p:txBody>
      </p:sp>
      <p:sp>
        <p:nvSpPr>
          <p:cNvPr id="15" name="Shape 12"/>
          <p:cNvSpPr/>
          <p:nvPr/>
        </p:nvSpPr>
        <p:spPr>
          <a:xfrm>
            <a:off x="5545836" y="4370832"/>
            <a:ext cx="1097280" cy="0"/>
          </a:xfrm>
          <a:prstGeom prst="line">
            <a:avLst/>
          </a:prstGeom>
          <a:noFill/>
          <a:ln w="25400">
            <a:solidFill>
              <a:srgbClr val="C6A96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0" y="4526280"/>
            <a:ext cx="12188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500" kern="0" dirty="0">
                <a:solidFill>
                  <a:srgbClr val="9E8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  ONCE    ·    USE  EVERYWHERE    ·    VERIFY  FOREVER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174236" y="5074920"/>
            <a:ext cx="384048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6A96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174236" y="507492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 ENTRY   ·   62  TOOLS   ·   EVERY  IDE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640080" y="6199632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9E8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1325880" y="619963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193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aurum-forge.vercel.app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640080" y="6419088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9E8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1325880" y="6419088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193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aurum-forge-api.up.railway.app/api/health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8348472" y="6291072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400" kern="0" dirty="0">
                <a:solidFill>
                  <a:srgbClr val="9E8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 OF  POSSIBLE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8348472" y="6510528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400" kern="0" dirty="0">
                <a:solidFill>
                  <a:srgbClr val="9E8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aurum_forge_logo_c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457200"/>
            <a:ext cx="73152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10515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0A19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MCP Chaos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640080" y="16916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built Aurum Forge — six fractures in every MCP install today.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640080" y="2057400"/>
            <a:ext cx="457200" cy="0"/>
          </a:xfrm>
          <a:prstGeom prst="line">
            <a:avLst/>
          </a:prstGeom>
          <a:noFill/>
          <a:ln w="25400">
            <a:solidFill>
              <a:srgbClr val="C6A96B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40080" y="2331720"/>
            <a:ext cx="3456432" cy="1783080"/>
          </a:xfrm>
          <a:prstGeom prst="roundRect">
            <a:avLst>
              <a:gd name="adj" fmla="val 5128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38100" dir="5400000">
              <a:srgbClr val="0A1931">
                <a:alpha val="6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96112" y="2587752"/>
            <a:ext cx="164592" cy="164592"/>
          </a:xfrm>
          <a:prstGeom prst="ellipse">
            <a:avLst/>
          </a:prstGeom>
          <a:solidFill>
            <a:srgbClr val="B85450"/>
          </a:solidFill>
          <a:ln/>
        </p:spPr>
      </p:sp>
      <p:sp>
        <p:nvSpPr>
          <p:cNvPr id="8" name="Text 5"/>
          <p:cNvSpPr/>
          <p:nvPr/>
        </p:nvSpPr>
        <p:spPr>
          <a:xfrm>
            <a:off x="1188720" y="2496312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0A193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50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1188720" y="2990088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9E8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ENTRIES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896112" y="3291840"/>
            <a:ext cx="457200" cy="0"/>
          </a:xfrm>
          <a:prstGeom prst="line">
            <a:avLst/>
          </a:prstGeom>
          <a:noFill/>
          <a:ln w="12700">
            <a:solidFill>
              <a:srgbClr val="C6A96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96112" y="3383280"/>
            <a:ext cx="2944368" cy="640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manifest bloat across every IDE — each tool re-installed by hand.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325112" y="2331720"/>
            <a:ext cx="3456432" cy="1783080"/>
          </a:xfrm>
          <a:prstGeom prst="roundRect">
            <a:avLst>
              <a:gd name="adj" fmla="val 5128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38100" dir="5400000">
              <a:srgbClr val="0A1931">
                <a:alpha val="6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581144" y="2587752"/>
            <a:ext cx="164592" cy="164592"/>
          </a:xfrm>
          <a:prstGeom prst="ellipse">
            <a:avLst/>
          </a:prstGeom>
          <a:solidFill>
            <a:srgbClr val="B85450"/>
          </a:solidFill>
          <a:ln/>
        </p:spPr>
      </p:sp>
      <p:sp>
        <p:nvSpPr>
          <p:cNvPr id="14" name="Text 11"/>
          <p:cNvSpPr/>
          <p:nvPr/>
        </p:nvSpPr>
        <p:spPr>
          <a:xfrm>
            <a:off x="4873752" y="2496312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0A193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175s</a:t>
            </a:r>
            <a:endParaRPr lang="en-US" sz="3200" dirty="0"/>
          </a:p>
        </p:txBody>
      </p:sp>
      <p:sp>
        <p:nvSpPr>
          <p:cNvPr id="15" name="Text 12"/>
          <p:cNvSpPr/>
          <p:nvPr/>
        </p:nvSpPr>
        <p:spPr>
          <a:xfrm>
            <a:off x="4873752" y="2990088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9E8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TIME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4581144" y="3291840"/>
            <a:ext cx="457200" cy="0"/>
          </a:xfrm>
          <a:prstGeom prst="line">
            <a:avLst/>
          </a:prstGeom>
          <a:noFill/>
          <a:ln w="12700">
            <a:solidFill>
              <a:srgbClr val="C6A96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581144" y="3383280"/>
            <a:ext cx="2944368" cy="640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Per-tool install + IDE restart loop. A fresh machine takes 3 minutes.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8010144" y="2331720"/>
            <a:ext cx="3456432" cy="1783080"/>
          </a:xfrm>
          <a:prstGeom prst="roundRect">
            <a:avLst>
              <a:gd name="adj" fmla="val 5128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38100" dir="5400000">
              <a:srgbClr val="0A1931">
                <a:alpha val="6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8266176" y="2587752"/>
            <a:ext cx="164592" cy="164592"/>
          </a:xfrm>
          <a:prstGeom prst="ellipse">
            <a:avLst/>
          </a:prstGeom>
          <a:solidFill>
            <a:srgbClr val="B85450"/>
          </a:solidFill>
          <a:ln/>
        </p:spPr>
      </p:sp>
      <p:sp>
        <p:nvSpPr>
          <p:cNvPr id="20" name="Text 17"/>
          <p:cNvSpPr/>
          <p:nvPr/>
        </p:nvSpPr>
        <p:spPr>
          <a:xfrm>
            <a:off x="8558784" y="2496312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0A193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45k</a:t>
            </a:r>
            <a:endParaRPr lang="en-US" sz="3200" dirty="0"/>
          </a:p>
        </p:txBody>
      </p:sp>
      <p:sp>
        <p:nvSpPr>
          <p:cNvPr id="21" name="Text 18"/>
          <p:cNvSpPr/>
          <p:nvPr/>
        </p:nvSpPr>
        <p:spPr>
          <a:xfrm>
            <a:off x="8558784" y="2990088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9E8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BURNED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8266176" y="3291840"/>
            <a:ext cx="457200" cy="0"/>
          </a:xfrm>
          <a:prstGeom prst="line">
            <a:avLst/>
          </a:prstGeom>
          <a:noFill/>
          <a:ln w="12700">
            <a:solidFill>
              <a:srgbClr val="C6A96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266176" y="3383280"/>
            <a:ext cx="2944368" cy="640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Boilerplate discovery chews 45,000 tokens per session — every restart.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640080" y="4315968"/>
            <a:ext cx="3456432" cy="1783080"/>
          </a:xfrm>
          <a:prstGeom prst="roundRect">
            <a:avLst>
              <a:gd name="adj" fmla="val 5128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38100" dir="5400000">
              <a:srgbClr val="0A1931">
                <a:alpha val="6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896112" y="4572000"/>
            <a:ext cx="164592" cy="164592"/>
          </a:xfrm>
          <a:prstGeom prst="ellipse">
            <a:avLst/>
          </a:prstGeom>
          <a:solidFill>
            <a:srgbClr val="B85450"/>
          </a:solidFill>
          <a:ln/>
        </p:spPr>
      </p:sp>
      <p:sp>
        <p:nvSpPr>
          <p:cNvPr id="26" name="Text 23"/>
          <p:cNvSpPr/>
          <p:nvPr/>
        </p:nvSpPr>
        <p:spPr>
          <a:xfrm>
            <a:off x="1188720" y="448056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0A193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"/"</a:t>
            </a:r>
            <a:endParaRPr lang="en-US" sz="3200" dirty="0"/>
          </a:p>
        </p:txBody>
      </p:sp>
      <p:sp>
        <p:nvSpPr>
          <p:cNvPr id="27" name="Text 24"/>
          <p:cNvSpPr/>
          <p:nvPr/>
        </p:nvSpPr>
        <p:spPr>
          <a:xfrm>
            <a:off x="1188720" y="4974336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9E8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BUG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896112" y="5276088"/>
            <a:ext cx="457200" cy="0"/>
          </a:xfrm>
          <a:prstGeom prst="line">
            <a:avLst/>
          </a:prstGeom>
          <a:noFill/>
          <a:ln w="12700">
            <a:solidFill>
              <a:srgbClr val="C6A96B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896112" y="5367528"/>
            <a:ext cx="2944368" cy="640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Backslash escape breaks Windows paths. Tools silently fail to launch.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4325112" y="4315968"/>
            <a:ext cx="3456432" cy="1783080"/>
          </a:xfrm>
          <a:prstGeom prst="roundRect">
            <a:avLst>
              <a:gd name="adj" fmla="val 5128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38100" dir="5400000">
              <a:srgbClr val="0A1931">
                <a:alpha val="6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4581144" y="4572000"/>
            <a:ext cx="164592" cy="164592"/>
          </a:xfrm>
          <a:prstGeom prst="ellipse">
            <a:avLst/>
          </a:prstGeom>
          <a:solidFill>
            <a:srgbClr val="B85450"/>
          </a:solidFill>
          <a:ln/>
        </p:spPr>
      </p:sp>
      <p:sp>
        <p:nvSpPr>
          <p:cNvPr id="32" name="Text 29"/>
          <p:cNvSpPr/>
          <p:nvPr/>
        </p:nvSpPr>
        <p:spPr>
          <a:xfrm>
            <a:off x="4873752" y="448056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0A193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746B</a:t>
            </a:r>
            <a:endParaRPr lang="en-US" sz="3200" dirty="0"/>
          </a:p>
        </p:txBody>
      </p:sp>
      <p:sp>
        <p:nvSpPr>
          <p:cNvPr id="33" name="Text 30"/>
          <p:cNvSpPr/>
          <p:nvPr/>
        </p:nvSpPr>
        <p:spPr>
          <a:xfrm>
            <a:off x="4873752" y="4974336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9E8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STUB LEAK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4581144" y="5276088"/>
            <a:ext cx="457200" cy="0"/>
          </a:xfrm>
          <a:prstGeom prst="line">
            <a:avLst/>
          </a:prstGeom>
          <a:noFill/>
          <a:ln w="12700">
            <a:solidFill>
              <a:srgbClr val="C6A96B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581144" y="5367528"/>
            <a:ext cx="2944368" cy="640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 746-byte stubs masquerade as installed. Hidden until called.</a:t>
            </a:r>
            <a:endParaRPr lang="en-US" sz="1050" dirty="0"/>
          </a:p>
        </p:txBody>
      </p:sp>
      <p:sp>
        <p:nvSpPr>
          <p:cNvPr id="36" name="Shape 33"/>
          <p:cNvSpPr/>
          <p:nvPr/>
        </p:nvSpPr>
        <p:spPr>
          <a:xfrm>
            <a:off x="8010144" y="4315968"/>
            <a:ext cx="3456432" cy="1783080"/>
          </a:xfrm>
          <a:prstGeom prst="roundRect">
            <a:avLst>
              <a:gd name="adj" fmla="val 5128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38100" dir="5400000">
              <a:srgbClr val="0A1931">
                <a:alpha val="6000"/>
              </a:srgbClr>
            </a:outerShdw>
          </a:effectLst>
        </p:spPr>
      </p:sp>
      <p:sp>
        <p:nvSpPr>
          <p:cNvPr id="37" name="Shape 34"/>
          <p:cNvSpPr/>
          <p:nvPr/>
        </p:nvSpPr>
        <p:spPr>
          <a:xfrm>
            <a:off x="8266176" y="4572000"/>
            <a:ext cx="164592" cy="164592"/>
          </a:xfrm>
          <a:prstGeom prst="ellipse">
            <a:avLst/>
          </a:prstGeom>
          <a:solidFill>
            <a:srgbClr val="B85450"/>
          </a:solidFill>
          <a:ln/>
        </p:spPr>
      </p:sp>
      <p:sp>
        <p:nvSpPr>
          <p:cNvPr id="38" name="Text 35"/>
          <p:cNvSpPr/>
          <p:nvPr/>
        </p:nvSpPr>
        <p:spPr>
          <a:xfrm>
            <a:off x="8558784" y="448056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0A193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GH013</a:t>
            </a:r>
            <a:endParaRPr lang="en-US" sz="3200" dirty="0"/>
          </a:p>
        </p:txBody>
      </p:sp>
      <p:sp>
        <p:nvSpPr>
          <p:cNvPr id="39" name="Text 36"/>
          <p:cNvSpPr/>
          <p:nvPr/>
        </p:nvSpPr>
        <p:spPr>
          <a:xfrm>
            <a:off x="8558784" y="4974336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9E8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+ 404</a:t>
            </a:r>
            <a:endParaRPr lang="en-US" sz="900" dirty="0"/>
          </a:p>
        </p:txBody>
      </p:sp>
      <p:sp>
        <p:nvSpPr>
          <p:cNvPr id="40" name="Shape 37"/>
          <p:cNvSpPr/>
          <p:nvPr/>
        </p:nvSpPr>
        <p:spPr>
          <a:xfrm>
            <a:off x="8266176" y="5276088"/>
            <a:ext cx="457200" cy="0"/>
          </a:xfrm>
          <a:prstGeom prst="line">
            <a:avLst/>
          </a:prstGeom>
          <a:noFill/>
          <a:ln w="12700">
            <a:solidFill>
              <a:srgbClr val="C6A96B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8266176" y="5367528"/>
            <a:ext cx="2944368" cy="640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Silent auth failures, dead endpoints, opaque retry. No proof, no trust.</a:t>
            </a:r>
            <a:endParaRPr lang="en-US" sz="1050" dirty="0"/>
          </a:p>
        </p:txBody>
      </p:sp>
      <p:sp>
        <p:nvSpPr>
          <p:cNvPr id="42" name="Text 39"/>
          <p:cNvSpPr/>
          <p:nvPr/>
        </p:nvSpPr>
        <p:spPr>
          <a:xfrm>
            <a:off x="64008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AURUM FORGE</a:t>
            </a:r>
            <a:endParaRPr lang="en-US" sz="900" dirty="0"/>
          </a:p>
        </p:txBody>
      </p:sp>
      <p:sp>
        <p:nvSpPr>
          <p:cNvPr id="43" name="Text 40"/>
          <p:cNvSpPr/>
          <p:nvPr/>
        </p:nvSpPr>
        <p:spPr>
          <a:xfrm>
            <a:off x="7891272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400" kern="0" dirty="0">
                <a:solidFill>
                  <a:srgbClr val="8A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OF POSSIBLE 2026</a:t>
            </a:r>
            <a:endParaRPr lang="en-US" sz="900" dirty="0"/>
          </a:p>
        </p:txBody>
      </p:sp>
      <p:sp>
        <p:nvSpPr>
          <p:cNvPr id="44" name="Shape 41"/>
          <p:cNvSpPr/>
          <p:nvPr/>
        </p:nvSpPr>
        <p:spPr>
          <a:xfrm>
            <a:off x="6048756" y="6464808"/>
            <a:ext cx="91440" cy="91440"/>
          </a:xfrm>
          <a:prstGeom prst="ellipse">
            <a:avLst/>
          </a:prstGeom>
          <a:solidFill>
            <a:srgbClr val="C6A96B"/>
          </a:solidFill>
          <a:ln/>
        </p:spPr>
      </p:sp>
      <p:sp>
        <p:nvSpPr>
          <p:cNvPr id="45" name="Text 42"/>
          <p:cNvSpPr/>
          <p:nvPr/>
        </p:nvSpPr>
        <p:spPr>
          <a:xfrm>
            <a:off x="5545836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8A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13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aurum_forge_logo_c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457200"/>
            <a:ext cx="73152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10515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0A19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Manifest. Sixty-Two Tools.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640080" y="16916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Super-Hub that replaces 50 MCP entries with 1 — give once, discover dynamically, verify forever.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640080" y="2057400"/>
            <a:ext cx="457200" cy="0"/>
          </a:xfrm>
          <a:prstGeom prst="line">
            <a:avLst/>
          </a:prstGeom>
          <a:noFill/>
          <a:ln w="25400">
            <a:solidFill>
              <a:srgbClr val="C6A96B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40080" y="2377440"/>
            <a:ext cx="4023360" cy="3474720"/>
          </a:xfrm>
          <a:prstGeom prst="roundRect">
            <a:avLst>
              <a:gd name="adj" fmla="val 2632"/>
            </a:avLst>
          </a:prstGeom>
          <a:solidFill>
            <a:srgbClr val="0A1931"/>
          </a:solidFill>
          <a:ln/>
          <a:effectLst>
            <a:outerShdw sx="100000" sy="100000" kx="0" ky="0" algn="bl" rotWithShape="0" blurRad="127000" dist="25400" dir="5400000">
              <a:srgbClr val="9E8047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005840" y="2697480"/>
            <a:ext cx="548640" cy="0"/>
          </a:xfrm>
          <a:prstGeom prst="line">
            <a:avLst/>
          </a:prstGeom>
          <a:noFill/>
          <a:ln w="25400">
            <a:solidFill>
              <a:srgbClr val="C6A96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05840" y="278892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6A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 →  AFTER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005840" y="310896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000" b="1" dirty="0">
                <a:solidFill>
                  <a:srgbClr val="C5CFE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50</a:t>
            </a:r>
            <a:pPr indent="0" marL="0">
              <a:buNone/>
            </a:pPr>
            <a:r>
              <a:rPr lang="en-US" sz="2800" dirty="0">
                <a:solidFill>
                  <a:srgbClr val="C6A96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→  </a:t>
            </a:r>
            <a:pPr indent="0" marL="0">
              <a:buNone/>
            </a:pPr>
            <a:r>
              <a:rPr lang="en-US" sz="8000" b="1" dirty="0">
                <a:solidFill>
                  <a:srgbClr val="C6A96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</a:t>
            </a:r>
            <a:endParaRPr lang="en-US" sz="6000" dirty="0"/>
          </a:p>
        </p:txBody>
      </p:sp>
      <p:sp>
        <p:nvSpPr>
          <p:cNvPr id="10" name="Text 7"/>
          <p:cNvSpPr/>
          <p:nvPr/>
        </p:nvSpPr>
        <p:spPr>
          <a:xfrm>
            <a:off x="1005840" y="416052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5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entries → single forge entry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1005840" y="4526280"/>
            <a:ext cx="457200" cy="0"/>
          </a:xfrm>
          <a:prstGeom prst="line">
            <a:avLst/>
          </a:prstGeom>
          <a:noFill/>
          <a:ln w="12700">
            <a:solidFill>
              <a:srgbClr val="C6A96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05840" y="461772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62+  tools discovered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1005840" y="4864608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chains prebuilt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1005840" y="5111496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6A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83×  faster · 0 tokens · $0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1005840" y="548640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6A96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aurum_verified  ·  12-char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4937760" y="2377440"/>
            <a:ext cx="2194560" cy="1627632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38100" dir="5400000">
              <a:srgbClr val="0A1931">
                <a:alpha val="6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5120640" y="2560320"/>
            <a:ext cx="128016" cy="128016"/>
          </a:xfrm>
          <a:prstGeom prst="ellipse">
            <a:avLst/>
          </a:prstGeom>
          <a:solidFill>
            <a:srgbClr val="C6A96B"/>
          </a:solidFill>
          <a:ln/>
        </p:spPr>
      </p:sp>
      <p:sp>
        <p:nvSpPr>
          <p:cNvPr id="18" name="Text 15"/>
          <p:cNvSpPr/>
          <p:nvPr/>
        </p:nvSpPr>
        <p:spPr>
          <a:xfrm>
            <a:off x="5321808" y="2542032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Entry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5120640" y="2926080"/>
            <a:ext cx="274320" cy="0"/>
          </a:xfrm>
          <a:prstGeom prst="line">
            <a:avLst/>
          </a:prstGeom>
          <a:noFill/>
          <a:ln w="12700">
            <a:solidFill>
              <a:srgbClr val="C6A96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120640" y="3017520"/>
            <a:ext cx="1828800" cy="8686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forge-aurum-hub. Single manifest. One IDE add.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7315200" y="2377440"/>
            <a:ext cx="2194560" cy="1627632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38100" dir="5400000">
              <a:srgbClr val="0A1931">
                <a:alpha val="6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7498080" y="2560320"/>
            <a:ext cx="128016" cy="128016"/>
          </a:xfrm>
          <a:prstGeom prst="ellipse">
            <a:avLst/>
          </a:prstGeom>
          <a:solidFill>
            <a:srgbClr val="C6A96B"/>
          </a:solidFill>
          <a:ln/>
        </p:spPr>
      </p:sp>
      <p:sp>
        <p:nvSpPr>
          <p:cNvPr id="23" name="Text 20"/>
          <p:cNvSpPr/>
          <p:nvPr/>
        </p:nvSpPr>
        <p:spPr>
          <a:xfrm>
            <a:off x="7699248" y="2542032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Once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7498080" y="2926080"/>
            <a:ext cx="274320" cy="0"/>
          </a:xfrm>
          <a:prstGeom prst="line">
            <a:avLst/>
          </a:prstGeom>
          <a:noFill/>
          <a:ln w="12700">
            <a:solidFill>
              <a:srgbClr val="C6A96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498080" y="3017520"/>
            <a:ext cx="1828800" cy="8686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give_once:true. Permissions cascade to all tools.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9692640" y="2377440"/>
            <a:ext cx="2194560" cy="1627632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38100" dir="5400000">
              <a:srgbClr val="0A1931">
                <a:alpha val="6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9875520" y="2560320"/>
            <a:ext cx="128016" cy="128016"/>
          </a:xfrm>
          <a:prstGeom prst="ellipse">
            <a:avLst/>
          </a:prstGeom>
          <a:solidFill>
            <a:srgbClr val="C6A96B"/>
          </a:solidFill>
          <a:ln/>
        </p:spPr>
      </p:sp>
      <p:sp>
        <p:nvSpPr>
          <p:cNvPr id="28" name="Text 25"/>
          <p:cNvSpPr/>
          <p:nvPr/>
        </p:nvSpPr>
        <p:spPr>
          <a:xfrm>
            <a:off x="10076688" y="2542032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"/" Paths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9875520" y="2926080"/>
            <a:ext cx="274320" cy="0"/>
          </a:xfrm>
          <a:prstGeom prst="line">
            <a:avLst/>
          </a:prstGeom>
          <a:noFill/>
          <a:ln w="12700">
            <a:solidFill>
              <a:srgbClr val="C6A96B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9875520" y="3017520"/>
            <a:ext cx="1828800" cy="8686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Normalized forward-slash paths. No Windows bug.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4937760" y="4169664"/>
            <a:ext cx="2194560" cy="1627632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38100" dir="5400000">
              <a:srgbClr val="0A1931">
                <a:alpha val="6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5120640" y="4352544"/>
            <a:ext cx="128016" cy="128016"/>
          </a:xfrm>
          <a:prstGeom prst="ellipse">
            <a:avLst/>
          </a:prstGeom>
          <a:solidFill>
            <a:srgbClr val="C6A96B"/>
          </a:solidFill>
          <a:ln/>
        </p:spPr>
      </p:sp>
      <p:sp>
        <p:nvSpPr>
          <p:cNvPr id="33" name="Text 30"/>
          <p:cNvSpPr/>
          <p:nvPr/>
        </p:nvSpPr>
        <p:spPr>
          <a:xfrm>
            <a:off x="5321808" y="4334256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Auto-Update</a:t>
            </a:r>
            <a:endParaRPr lang="en-US" sz="1300" dirty="0"/>
          </a:p>
        </p:txBody>
      </p:sp>
      <p:sp>
        <p:nvSpPr>
          <p:cNvPr id="34" name="Shape 31"/>
          <p:cNvSpPr/>
          <p:nvPr/>
        </p:nvSpPr>
        <p:spPr>
          <a:xfrm>
            <a:off x="5120640" y="4718304"/>
            <a:ext cx="274320" cy="0"/>
          </a:xfrm>
          <a:prstGeom prst="line">
            <a:avLst/>
          </a:prstGeom>
          <a:noFill/>
          <a:ln w="12700">
            <a:solidFill>
              <a:srgbClr val="C6A96B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5120640" y="4809744"/>
            <a:ext cx="1828800" cy="8686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auto_update:true. 62 → 65 in 0.1s, no restart.</a:t>
            </a:r>
            <a:endParaRPr lang="en-US" sz="950" dirty="0"/>
          </a:p>
        </p:txBody>
      </p:sp>
      <p:sp>
        <p:nvSpPr>
          <p:cNvPr id="36" name="Shape 33"/>
          <p:cNvSpPr/>
          <p:nvPr/>
        </p:nvSpPr>
        <p:spPr>
          <a:xfrm>
            <a:off x="7315200" y="4169664"/>
            <a:ext cx="2194560" cy="1627632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38100" dir="5400000">
              <a:srgbClr val="0A1931">
                <a:alpha val="6000"/>
              </a:srgbClr>
            </a:outerShdw>
          </a:effectLst>
        </p:spPr>
      </p:sp>
      <p:sp>
        <p:nvSpPr>
          <p:cNvPr id="37" name="Shape 34"/>
          <p:cNvSpPr/>
          <p:nvPr/>
        </p:nvSpPr>
        <p:spPr>
          <a:xfrm>
            <a:off x="7498080" y="4352544"/>
            <a:ext cx="128016" cy="128016"/>
          </a:xfrm>
          <a:prstGeom prst="ellipse">
            <a:avLst/>
          </a:prstGeom>
          <a:solidFill>
            <a:srgbClr val="C6A96B"/>
          </a:solidFill>
          <a:ln/>
        </p:spPr>
      </p:sp>
      <p:sp>
        <p:nvSpPr>
          <p:cNvPr id="38" name="Text 35"/>
          <p:cNvSpPr/>
          <p:nvPr/>
        </p:nvSpPr>
        <p:spPr>
          <a:xfrm>
            <a:off x="7699248" y="4334256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Verifiable</a:t>
            </a:r>
            <a:endParaRPr lang="en-US" sz="1300" dirty="0"/>
          </a:p>
        </p:txBody>
      </p:sp>
      <p:sp>
        <p:nvSpPr>
          <p:cNvPr id="39" name="Shape 36"/>
          <p:cNvSpPr/>
          <p:nvPr/>
        </p:nvSpPr>
        <p:spPr>
          <a:xfrm>
            <a:off x="7498080" y="4718304"/>
            <a:ext cx="274320" cy="0"/>
          </a:xfrm>
          <a:prstGeom prst="line">
            <a:avLst/>
          </a:prstGeom>
          <a:noFill/>
          <a:ln w="12700">
            <a:solidFill>
              <a:srgbClr val="C6A96B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7498080" y="4809744"/>
            <a:ext cx="1828800" cy="8686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aurum_verified 12-char hash. Stable across adds.</a:t>
            </a:r>
            <a:endParaRPr lang="en-US" sz="950" dirty="0"/>
          </a:p>
        </p:txBody>
      </p:sp>
      <p:sp>
        <p:nvSpPr>
          <p:cNvPr id="41" name="Shape 38"/>
          <p:cNvSpPr/>
          <p:nvPr/>
        </p:nvSpPr>
        <p:spPr>
          <a:xfrm>
            <a:off x="9692640" y="4169664"/>
            <a:ext cx="2194560" cy="1627632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38100" dir="5400000">
              <a:srgbClr val="0A1931">
                <a:alpha val="6000"/>
              </a:srgbClr>
            </a:outerShdw>
          </a:effectLst>
        </p:spPr>
      </p:sp>
      <p:sp>
        <p:nvSpPr>
          <p:cNvPr id="42" name="Shape 39"/>
          <p:cNvSpPr/>
          <p:nvPr/>
        </p:nvSpPr>
        <p:spPr>
          <a:xfrm>
            <a:off x="9875520" y="4352544"/>
            <a:ext cx="128016" cy="128016"/>
          </a:xfrm>
          <a:prstGeom prst="ellipse">
            <a:avLst/>
          </a:prstGeom>
          <a:solidFill>
            <a:srgbClr val="C6A96B"/>
          </a:solidFill>
          <a:ln/>
        </p:spPr>
      </p:sp>
      <p:sp>
        <p:nvSpPr>
          <p:cNvPr id="43" name="Text 40"/>
          <p:cNvSpPr/>
          <p:nvPr/>
        </p:nvSpPr>
        <p:spPr>
          <a:xfrm>
            <a:off x="10076688" y="4334256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Zero-LLM Runtime</a:t>
            </a:r>
            <a:endParaRPr lang="en-US" sz="1300" dirty="0"/>
          </a:p>
        </p:txBody>
      </p:sp>
      <p:sp>
        <p:nvSpPr>
          <p:cNvPr id="44" name="Shape 41"/>
          <p:cNvSpPr/>
          <p:nvPr/>
        </p:nvSpPr>
        <p:spPr>
          <a:xfrm>
            <a:off x="9875520" y="4718304"/>
            <a:ext cx="274320" cy="0"/>
          </a:xfrm>
          <a:prstGeom prst="line">
            <a:avLst/>
          </a:prstGeom>
          <a:noFill/>
          <a:ln w="12700">
            <a:solidFill>
              <a:srgbClr val="C6A96B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9875520" y="4809744"/>
            <a:ext cx="1828800" cy="8686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Sub-2.1s. No model call in the hot path. $0.</a:t>
            </a:r>
            <a:endParaRPr lang="en-US" sz="950" dirty="0"/>
          </a:p>
        </p:txBody>
      </p:sp>
      <p:sp>
        <p:nvSpPr>
          <p:cNvPr id="46" name="Text 43"/>
          <p:cNvSpPr/>
          <p:nvPr/>
        </p:nvSpPr>
        <p:spPr>
          <a:xfrm>
            <a:off x="64008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AURUM FORGE</a:t>
            </a:r>
            <a:endParaRPr lang="en-US" sz="900" dirty="0"/>
          </a:p>
        </p:txBody>
      </p:sp>
      <p:sp>
        <p:nvSpPr>
          <p:cNvPr id="47" name="Text 44"/>
          <p:cNvSpPr/>
          <p:nvPr/>
        </p:nvSpPr>
        <p:spPr>
          <a:xfrm>
            <a:off x="7891272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400" kern="0" dirty="0">
                <a:solidFill>
                  <a:srgbClr val="8A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OF POSSIBLE 2026</a:t>
            </a:r>
            <a:endParaRPr lang="en-US" sz="900" dirty="0"/>
          </a:p>
        </p:txBody>
      </p:sp>
      <p:sp>
        <p:nvSpPr>
          <p:cNvPr id="48" name="Shape 45"/>
          <p:cNvSpPr/>
          <p:nvPr/>
        </p:nvSpPr>
        <p:spPr>
          <a:xfrm>
            <a:off x="6048756" y="6464808"/>
            <a:ext cx="91440" cy="91440"/>
          </a:xfrm>
          <a:prstGeom prst="ellipse">
            <a:avLst/>
          </a:prstGeom>
          <a:solidFill>
            <a:srgbClr val="C6A96B"/>
          </a:solidFill>
          <a:ln/>
        </p:spPr>
      </p:sp>
      <p:sp>
        <p:nvSpPr>
          <p:cNvPr id="49" name="Text 46"/>
          <p:cNvSpPr/>
          <p:nvPr/>
        </p:nvSpPr>
        <p:spPr>
          <a:xfrm>
            <a:off x="5545836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8A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aurum_forge_logo_c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457200"/>
            <a:ext cx="73152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10515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0A19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Forge Once, Use Everywhere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640080" y="16916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mechanical path from one entry to verified output — five steps, no restart.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640080" y="2057400"/>
            <a:ext cx="457200" cy="0"/>
          </a:xfrm>
          <a:prstGeom prst="line">
            <a:avLst/>
          </a:prstGeom>
          <a:noFill/>
          <a:ln w="25400">
            <a:solidFill>
              <a:srgbClr val="C6A96B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80060" y="2606040"/>
            <a:ext cx="20116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38100" dir="5400000">
              <a:srgbClr val="0A1931">
                <a:alpha val="6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62940" y="2807208"/>
            <a:ext cx="274320" cy="0"/>
          </a:xfrm>
          <a:prstGeom prst="line">
            <a:avLst/>
          </a:prstGeom>
          <a:noFill/>
          <a:ln w="25400">
            <a:solidFill>
              <a:srgbClr val="0A1931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988820" y="2770632"/>
            <a:ext cx="256032" cy="256032"/>
          </a:xfrm>
          <a:prstGeom prst="ellipse">
            <a:avLst/>
          </a:prstGeom>
          <a:solidFill>
            <a:srgbClr val="0A1931"/>
          </a:solidFill>
          <a:ln/>
        </p:spPr>
      </p:sp>
      <p:sp>
        <p:nvSpPr>
          <p:cNvPr id="9" name="Text 6"/>
          <p:cNvSpPr/>
          <p:nvPr/>
        </p:nvSpPr>
        <p:spPr>
          <a:xfrm>
            <a:off x="1988820" y="277063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62940" y="3136392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62940" y="3410712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193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 entry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662940" y="3630168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forge_aurum_hub/server.py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2510028" y="3291840"/>
            <a:ext cx="256032" cy="0"/>
          </a:xfrm>
          <a:prstGeom prst="line">
            <a:avLst/>
          </a:prstGeom>
          <a:noFill/>
          <a:ln w="25400">
            <a:solidFill>
              <a:srgbClr val="C6A96B"/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2784348" y="2606040"/>
            <a:ext cx="20116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38100" dir="5400000">
              <a:srgbClr val="0A1931">
                <a:alpha val="6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2967228" y="2807208"/>
            <a:ext cx="274320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293108" y="2770632"/>
            <a:ext cx="256032" cy="25603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7" name="Text 14"/>
          <p:cNvSpPr/>
          <p:nvPr/>
        </p:nvSpPr>
        <p:spPr>
          <a:xfrm>
            <a:off x="4293108" y="277063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2967228" y="3136392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2967228" y="3410712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62+ tools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2967228" y="3630168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mcp_registry + forge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4814316" y="3291840"/>
            <a:ext cx="256032" cy="0"/>
          </a:xfrm>
          <a:prstGeom prst="line">
            <a:avLst/>
          </a:prstGeom>
          <a:noFill/>
          <a:ln w="25400">
            <a:solidFill>
              <a:srgbClr val="C6A96B"/>
            </a:solidFill>
            <a:prstDash val="solid"/>
            <a:tailEnd type="triangle"/>
          </a:ln>
        </p:spPr>
      </p:sp>
      <p:sp>
        <p:nvSpPr>
          <p:cNvPr id="22" name="Shape 19"/>
          <p:cNvSpPr/>
          <p:nvPr/>
        </p:nvSpPr>
        <p:spPr>
          <a:xfrm>
            <a:off x="5088636" y="2606040"/>
            <a:ext cx="20116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38100" dir="5400000">
              <a:srgbClr val="0A1931">
                <a:alpha val="6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5271516" y="2807208"/>
            <a:ext cx="274320" cy="0"/>
          </a:xfrm>
          <a:prstGeom prst="line">
            <a:avLst/>
          </a:prstGeom>
          <a:noFill/>
          <a:ln w="25400">
            <a:solidFill>
              <a:srgbClr val="10B981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597396" y="2770632"/>
            <a:ext cx="256032" cy="25603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5" name="Text 22"/>
          <p:cNvSpPr/>
          <p:nvPr/>
        </p:nvSpPr>
        <p:spPr>
          <a:xfrm>
            <a:off x="6597396" y="277063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5271516" y="3136392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MANIFEST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5271516" y="3410712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auto_update:true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5271516" y="3630168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super_hub.mcp.json &gt;5KB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7118604" y="3291840"/>
            <a:ext cx="256032" cy="0"/>
          </a:xfrm>
          <a:prstGeom prst="line">
            <a:avLst/>
          </a:prstGeom>
          <a:noFill/>
          <a:ln w="25400">
            <a:solidFill>
              <a:srgbClr val="C6A96B"/>
            </a:solidFill>
            <a:prstDash val="solid"/>
            <a:tailEnd type="triangle"/>
          </a:ln>
        </p:spPr>
      </p:sp>
      <p:sp>
        <p:nvSpPr>
          <p:cNvPr id="30" name="Shape 27"/>
          <p:cNvSpPr/>
          <p:nvPr/>
        </p:nvSpPr>
        <p:spPr>
          <a:xfrm>
            <a:off x="7392924" y="2606040"/>
            <a:ext cx="20116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38100" dir="5400000">
              <a:srgbClr val="0A1931">
                <a:alpha val="6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7575804" y="2807208"/>
            <a:ext cx="274320" cy="0"/>
          </a:xfrm>
          <a:prstGeom prst="line">
            <a:avLst/>
          </a:prstGeom>
          <a:noFill/>
          <a:ln w="25400">
            <a:solidFill>
              <a:srgbClr val="8B5CF6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8901684" y="2770632"/>
            <a:ext cx="256032" cy="256032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33" name="Text 30"/>
          <p:cNvSpPr/>
          <p:nvPr/>
        </p:nvSpPr>
        <p:spPr>
          <a:xfrm>
            <a:off x="8901684" y="277063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7575804" y="3136392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</a:t>
            </a:r>
            <a:endParaRPr lang="en-US" sz="1300" dirty="0"/>
          </a:p>
        </p:txBody>
      </p:sp>
      <p:sp>
        <p:nvSpPr>
          <p:cNvPr id="35" name="Text 32"/>
          <p:cNvSpPr/>
          <p:nvPr/>
        </p:nvSpPr>
        <p:spPr>
          <a:xfrm>
            <a:off x="7575804" y="3410712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5CF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 consent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7575804" y="3630168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give_once · '/' paths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9422892" y="3291840"/>
            <a:ext cx="256032" cy="0"/>
          </a:xfrm>
          <a:prstGeom prst="line">
            <a:avLst/>
          </a:prstGeom>
          <a:noFill/>
          <a:ln w="25400">
            <a:solidFill>
              <a:srgbClr val="C6A96B"/>
            </a:solidFill>
            <a:prstDash val="solid"/>
            <a:tailEnd type="triangle"/>
          </a:ln>
        </p:spPr>
      </p:sp>
      <p:sp>
        <p:nvSpPr>
          <p:cNvPr id="38" name="Shape 35"/>
          <p:cNvSpPr/>
          <p:nvPr/>
        </p:nvSpPr>
        <p:spPr>
          <a:xfrm>
            <a:off x="9697212" y="2606040"/>
            <a:ext cx="20116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38100" dir="5400000">
              <a:srgbClr val="0A1931">
                <a:alpha val="6000"/>
              </a:srgbClr>
            </a:outerShdw>
          </a:effectLst>
        </p:spPr>
      </p:sp>
      <p:sp>
        <p:nvSpPr>
          <p:cNvPr id="39" name="Shape 36"/>
          <p:cNvSpPr/>
          <p:nvPr/>
        </p:nvSpPr>
        <p:spPr>
          <a:xfrm>
            <a:off x="9880092" y="2807208"/>
            <a:ext cx="274320" cy="0"/>
          </a:xfrm>
          <a:prstGeom prst="line">
            <a:avLst/>
          </a:prstGeom>
          <a:noFill/>
          <a:ln w="25400">
            <a:solidFill>
              <a:srgbClr val="9E8047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11205972" y="2770632"/>
            <a:ext cx="256032" cy="256032"/>
          </a:xfrm>
          <a:prstGeom prst="ellipse">
            <a:avLst/>
          </a:prstGeom>
          <a:solidFill>
            <a:srgbClr val="9E8047"/>
          </a:solidFill>
          <a:ln/>
        </p:spPr>
      </p:sp>
      <p:sp>
        <p:nvSpPr>
          <p:cNvPr id="41" name="Text 38"/>
          <p:cNvSpPr/>
          <p:nvPr/>
        </p:nvSpPr>
        <p:spPr>
          <a:xfrm>
            <a:off x="11205972" y="277063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42" name="Text 39"/>
          <p:cNvSpPr/>
          <p:nvPr/>
        </p:nvSpPr>
        <p:spPr>
          <a:xfrm>
            <a:off x="9880092" y="3136392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1300" dirty="0"/>
          </a:p>
        </p:txBody>
      </p:sp>
      <p:sp>
        <p:nvSpPr>
          <p:cNvPr id="43" name="Text 40"/>
          <p:cNvSpPr/>
          <p:nvPr/>
        </p:nvSpPr>
        <p:spPr>
          <a:xfrm>
            <a:off x="9880092" y="3410712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E804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aurum_verified</a:t>
            </a:r>
            <a:endParaRPr lang="en-US" sz="900" dirty="0"/>
          </a:p>
        </p:txBody>
      </p:sp>
      <p:sp>
        <p:nvSpPr>
          <p:cNvPr id="44" name="Text 41"/>
          <p:cNvSpPr/>
          <p:nvPr/>
        </p:nvSpPr>
        <p:spPr>
          <a:xfrm>
            <a:off x="9880092" y="3630168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12-char hash</a:t>
            </a:r>
            <a:endParaRPr lang="en-US" sz="900" dirty="0"/>
          </a:p>
        </p:txBody>
      </p:sp>
      <p:sp>
        <p:nvSpPr>
          <p:cNvPr id="45" name="Shape 42"/>
          <p:cNvSpPr/>
          <p:nvPr/>
        </p:nvSpPr>
        <p:spPr>
          <a:xfrm>
            <a:off x="681228" y="4526280"/>
            <a:ext cx="3456432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38100" dir="5400000">
              <a:srgbClr val="0A1931">
                <a:alpha val="6000"/>
              </a:srgbClr>
            </a:outerShdw>
          </a:effectLst>
        </p:spPr>
      </p:sp>
      <p:sp>
        <p:nvSpPr>
          <p:cNvPr id="46" name="Text 43"/>
          <p:cNvSpPr/>
          <p:nvPr/>
        </p:nvSpPr>
        <p:spPr>
          <a:xfrm>
            <a:off x="909828" y="4663440"/>
            <a:ext cx="29992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9E8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TIME</a:t>
            </a:r>
            <a:endParaRPr lang="en-US" sz="800" dirty="0"/>
          </a:p>
        </p:txBody>
      </p:sp>
      <p:sp>
        <p:nvSpPr>
          <p:cNvPr id="47" name="Text 44"/>
          <p:cNvSpPr/>
          <p:nvPr/>
        </p:nvSpPr>
        <p:spPr>
          <a:xfrm>
            <a:off x="909828" y="4892040"/>
            <a:ext cx="2999232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9E804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2.1s</a:t>
            </a:r>
            <a:pPr indent="0" marL="0">
              <a:buNone/>
            </a:pPr>
            <a:r>
              <a:rPr lang="en-US" sz="1100" dirty="0">
                <a:solidFill>
                  <a:srgbClr val="8A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vs   </a:t>
            </a:r>
            <a:pPr indent="0" marL="0">
              <a:buNone/>
            </a:pPr>
            <a:r>
              <a:rPr lang="en-US" sz="2200" strike="sngStrike" dirty="0">
                <a:solidFill>
                  <a:srgbClr val="8A95A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175s</a:t>
            </a:r>
            <a:endParaRPr lang="en-US" sz="3200" dirty="0"/>
          </a:p>
        </p:txBody>
      </p:sp>
      <p:sp>
        <p:nvSpPr>
          <p:cNvPr id="48" name="Text 45"/>
          <p:cNvSpPr/>
          <p:nvPr/>
        </p:nvSpPr>
        <p:spPr>
          <a:xfrm>
            <a:off x="909828" y="5486400"/>
            <a:ext cx="29992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83× faster — no IDE restart</a:t>
            </a:r>
            <a:endParaRPr lang="en-US" sz="950" dirty="0"/>
          </a:p>
        </p:txBody>
      </p:sp>
      <p:sp>
        <p:nvSpPr>
          <p:cNvPr id="49" name="Shape 46"/>
          <p:cNvSpPr/>
          <p:nvPr/>
        </p:nvSpPr>
        <p:spPr>
          <a:xfrm>
            <a:off x="4366260" y="4526280"/>
            <a:ext cx="3456432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38100" dir="5400000">
              <a:srgbClr val="0A1931">
                <a:alpha val="6000"/>
              </a:srgbClr>
            </a:outerShdw>
          </a:effectLst>
        </p:spPr>
      </p:sp>
      <p:sp>
        <p:nvSpPr>
          <p:cNvPr id="50" name="Text 47"/>
          <p:cNvSpPr/>
          <p:nvPr/>
        </p:nvSpPr>
        <p:spPr>
          <a:xfrm>
            <a:off x="4594860" y="4663440"/>
            <a:ext cx="29992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9E8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BURNED</a:t>
            </a:r>
            <a:endParaRPr lang="en-US" sz="800" dirty="0"/>
          </a:p>
        </p:txBody>
      </p:sp>
      <p:sp>
        <p:nvSpPr>
          <p:cNvPr id="51" name="Text 48"/>
          <p:cNvSpPr/>
          <p:nvPr/>
        </p:nvSpPr>
        <p:spPr>
          <a:xfrm>
            <a:off x="4594860" y="4892040"/>
            <a:ext cx="2999232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9E804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</a:t>
            </a:r>
            <a:pPr indent="0" marL="0">
              <a:buNone/>
            </a:pPr>
            <a:r>
              <a:rPr lang="en-US" sz="1100" dirty="0">
                <a:solidFill>
                  <a:srgbClr val="8A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vs   </a:t>
            </a:r>
            <a:pPr indent="0" marL="0">
              <a:buNone/>
            </a:pPr>
            <a:r>
              <a:rPr lang="en-US" sz="2200" strike="sngStrike" dirty="0">
                <a:solidFill>
                  <a:srgbClr val="8A95A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45k</a:t>
            </a:r>
            <a:endParaRPr lang="en-US" sz="3200" dirty="0"/>
          </a:p>
        </p:txBody>
      </p:sp>
      <p:sp>
        <p:nvSpPr>
          <p:cNvPr id="52" name="Text 49"/>
          <p:cNvSpPr/>
          <p:nvPr/>
        </p:nvSpPr>
        <p:spPr>
          <a:xfrm>
            <a:off x="4594860" y="5486400"/>
            <a:ext cx="29992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LLM in the hot path</a:t>
            </a:r>
            <a:endParaRPr lang="en-US" sz="950" dirty="0"/>
          </a:p>
        </p:txBody>
      </p:sp>
      <p:sp>
        <p:nvSpPr>
          <p:cNvPr id="53" name="Shape 50"/>
          <p:cNvSpPr/>
          <p:nvPr/>
        </p:nvSpPr>
        <p:spPr>
          <a:xfrm>
            <a:off x="8051292" y="4526280"/>
            <a:ext cx="3456432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38100" dir="5400000">
              <a:srgbClr val="0A1931">
                <a:alpha val="6000"/>
              </a:srgbClr>
            </a:outerShdw>
          </a:effectLst>
        </p:spPr>
      </p:sp>
      <p:sp>
        <p:nvSpPr>
          <p:cNvPr id="54" name="Text 51"/>
          <p:cNvSpPr/>
          <p:nvPr/>
        </p:nvSpPr>
        <p:spPr>
          <a:xfrm>
            <a:off x="8279892" y="4663440"/>
            <a:ext cx="29992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9E8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COST</a:t>
            </a:r>
            <a:endParaRPr lang="en-US" sz="800" dirty="0"/>
          </a:p>
        </p:txBody>
      </p:sp>
      <p:sp>
        <p:nvSpPr>
          <p:cNvPr id="55" name="Text 52"/>
          <p:cNvSpPr/>
          <p:nvPr/>
        </p:nvSpPr>
        <p:spPr>
          <a:xfrm>
            <a:off x="8279892" y="4892040"/>
            <a:ext cx="2999232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9E804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$0</a:t>
            </a:r>
            <a:pPr indent="0" marL="0">
              <a:buNone/>
            </a:pPr>
            <a:r>
              <a:rPr lang="en-US" sz="1100" dirty="0">
                <a:solidFill>
                  <a:srgbClr val="8A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vs   </a:t>
            </a:r>
            <a:pPr indent="0" marL="0">
              <a:buNone/>
            </a:pPr>
            <a:r>
              <a:rPr lang="en-US" sz="2200" strike="sngStrike" dirty="0">
                <a:solidFill>
                  <a:srgbClr val="8A95A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$0.80</a:t>
            </a:r>
            <a:endParaRPr lang="en-US" sz="3200" dirty="0"/>
          </a:p>
        </p:txBody>
      </p:sp>
      <p:sp>
        <p:nvSpPr>
          <p:cNvPr id="56" name="Text 53"/>
          <p:cNvSpPr/>
          <p:nvPr/>
        </p:nvSpPr>
        <p:spPr>
          <a:xfrm>
            <a:off x="8279892" y="5486400"/>
            <a:ext cx="29992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session, per chain run</a:t>
            </a:r>
            <a:endParaRPr lang="en-US" sz="950" dirty="0"/>
          </a:p>
        </p:txBody>
      </p:sp>
      <p:sp>
        <p:nvSpPr>
          <p:cNvPr id="57" name="Text 54"/>
          <p:cNvSpPr/>
          <p:nvPr/>
        </p:nvSpPr>
        <p:spPr>
          <a:xfrm>
            <a:off x="64008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AURUM FORGE</a:t>
            </a:r>
            <a:endParaRPr lang="en-US" sz="900" dirty="0"/>
          </a:p>
        </p:txBody>
      </p:sp>
      <p:sp>
        <p:nvSpPr>
          <p:cNvPr id="58" name="Text 55"/>
          <p:cNvSpPr/>
          <p:nvPr/>
        </p:nvSpPr>
        <p:spPr>
          <a:xfrm>
            <a:off x="7891272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400" kern="0" dirty="0">
                <a:solidFill>
                  <a:srgbClr val="8A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OF POSSIBLE 2026</a:t>
            </a:r>
            <a:endParaRPr lang="en-US" sz="900" dirty="0"/>
          </a:p>
        </p:txBody>
      </p:sp>
      <p:sp>
        <p:nvSpPr>
          <p:cNvPr id="59" name="Shape 56"/>
          <p:cNvSpPr/>
          <p:nvPr/>
        </p:nvSpPr>
        <p:spPr>
          <a:xfrm>
            <a:off x="6048756" y="6464808"/>
            <a:ext cx="91440" cy="91440"/>
          </a:xfrm>
          <a:prstGeom prst="ellipse">
            <a:avLst/>
          </a:prstGeom>
          <a:solidFill>
            <a:srgbClr val="C6A96B"/>
          </a:solidFill>
          <a:ln/>
        </p:spPr>
      </p:sp>
      <p:sp>
        <p:nvSpPr>
          <p:cNvPr id="60" name="Text 57"/>
          <p:cNvSpPr/>
          <p:nvPr/>
        </p:nvSpPr>
        <p:spPr>
          <a:xfrm>
            <a:off x="5545836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8A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B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aurum_forge_logo_c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457200"/>
            <a:ext cx="73152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10515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0A19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OS Canvas. Nine Switches.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640080" y="16916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9-switch drawer replaces 7 tabs. The DAG pulses gold from root to every leaf.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640080" y="2057400"/>
            <a:ext cx="457200" cy="0"/>
          </a:xfrm>
          <a:prstGeom prst="line">
            <a:avLst/>
          </a:prstGeom>
          <a:noFill/>
          <a:ln w="25400">
            <a:solidFill>
              <a:srgbClr val="C6A96B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40080" y="2514600"/>
            <a:ext cx="8046720" cy="352044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38100" dir="5400000">
              <a:srgbClr val="0A1931">
                <a:alpha val="6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840480" y="2971800"/>
            <a:ext cx="1645920" cy="731520"/>
          </a:xfrm>
          <a:prstGeom prst="roundRect">
            <a:avLst>
              <a:gd name="adj" fmla="val 12500"/>
            </a:avLst>
          </a:prstGeom>
          <a:solidFill>
            <a:srgbClr val="C6A96B"/>
          </a:solidFill>
          <a:ln w="12700">
            <a:solidFill>
              <a:srgbClr val="9E8047"/>
            </a:solidFill>
            <a:prstDash val="solid"/>
          </a:ln>
          <a:effectLst>
            <a:outerShdw sx="100000" sy="100000" kx="0" ky="0" algn="bl" rotWithShape="0" blurRad="127000" dist="25400" dir="5400000">
              <a:srgbClr val="9E8047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3840480" y="3044952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  HUB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3840480" y="3355848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A193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forge-aurum-hub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4663440" y="3703320"/>
            <a:ext cx="-2880360" cy="960120"/>
          </a:xfrm>
          <a:prstGeom prst="line">
            <a:avLst/>
          </a:prstGeom>
          <a:noFill/>
          <a:ln w="19050">
            <a:solidFill>
              <a:srgbClr val="C6A96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51560" y="4663440"/>
            <a:ext cx="146304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52400" dist="38100" dir="5400000">
              <a:srgbClr val="0A1931">
                <a:alpha val="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1188720" y="4828032"/>
            <a:ext cx="274320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554480" y="4919472"/>
            <a:ext cx="457200" cy="45720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4" name="Text 11"/>
          <p:cNvSpPr/>
          <p:nvPr/>
        </p:nvSpPr>
        <p:spPr>
          <a:xfrm>
            <a:off x="1554480" y="496519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051560" y="5413248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4663440" y="3703320"/>
            <a:ext cx="-960120" cy="960120"/>
          </a:xfrm>
          <a:prstGeom prst="line">
            <a:avLst/>
          </a:prstGeom>
          <a:noFill/>
          <a:ln w="19050">
            <a:solidFill>
              <a:srgbClr val="C6A96B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2971800" y="4663440"/>
            <a:ext cx="146304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52400" dist="38100" dir="5400000">
              <a:srgbClr val="0A1931">
                <a:alpha val="6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3108960" y="4828032"/>
            <a:ext cx="274320" cy="0"/>
          </a:xfrm>
          <a:prstGeom prst="line">
            <a:avLst/>
          </a:prstGeom>
          <a:noFill/>
          <a:ln w="25400">
            <a:solidFill>
              <a:srgbClr val="10B981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3474720" y="4919472"/>
            <a:ext cx="457200" cy="4572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0" name="Text 17"/>
          <p:cNvSpPr/>
          <p:nvPr/>
        </p:nvSpPr>
        <p:spPr>
          <a:xfrm>
            <a:off x="3474720" y="496519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2971800" y="5413248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4663440" y="3703320"/>
            <a:ext cx="960120" cy="960120"/>
          </a:xfrm>
          <a:prstGeom prst="line">
            <a:avLst/>
          </a:prstGeom>
          <a:noFill/>
          <a:ln w="19050">
            <a:solidFill>
              <a:srgbClr val="C6A96B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892040" y="4663440"/>
            <a:ext cx="146304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152400" dist="38100" dir="5400000">
              <a:srgbClr val="0A1931">
                <a:alpha val="6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5029200" y="4828032"/>
            <a:ext cx="274320" cy="0"/>
          </a:xfrm>
          <a:prstGeom prst="line">
            <a:avLst/>
          </a:prstGeom>
          <a:noFill/>
          <a:ln w="25400">
            <a:solidFill>
              <a:srgbClr val="8B5CF6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5394960" y="4919472"/>
            <a:ext cx="457200" cy="45720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26" name="Text 23"/>
          <p:cNvSpPr/>
          <p:nvPr/>
        </p:nvSpPr>
        <p:spPr>
          <a:xfrm>
            <a:off x="5394960" y="496519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4892040" y="5413248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NOTION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4663440" y="3703320"/>
            <a:ext cx="2880360" cy="960120"/>
          </a:xfrm>
          <a:prstGeom prst="line">
            <a:avLst/>
          </a:prstGeom>
          <a:noFill/>
          <a:ln w="19050">
            <a:solidFill>
              <a:srgbClr val="C6A96B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6812280" y="4663440"/>
            <a:ext cx="146304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9E8047"/>
            </a:solidFill>
            <a:prstDash val="solid"/>
          </a:ln>
          <a:effectLst>
            <a:outerShdw sx="100000" sy="100000" kx="0" ky="0" algn="bl" rotWithShape="0" blurRad="152400" dist="38100" dir="5400000">
              <a:srgbClr val="0A1931">
                <a:alpha val="6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6949440" y="4828032"/>
            <a:ext cx="274320" cy="0"/>
          </a:xfrm>
          <a:prstGeom prst="line">
            <a:avLst/>
          </a:prstGeom>
          <a:noFill/>
          <a:ln w="25400">
            <a:solidFill>
              <a:srgbClr val="9E8047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7315200" y="4919472"/>
            <a:ext cx="457200" cy="457200"/>
          </a:xfrm>
          <a:prstGeom prst="ellipse">
            <a:avLst/>
          </a:prstGeom>
          <a:solidFill>
            <a:srgbClr val="9E8047"/>
          </a:solidFill>
          <a:ln/>
        </p:spPr>
      </p:sp>
      <p:sp>
        <p:nvSpPr>
          <p:cNvPr id="32" name="Text 29"/>
          <p:cNvSpPr/>
          <p:nvPr/>
        </p:nvSpPr>
        <p:spPr>
          <a:xfrm>
            <a:off x="7315200" y="496519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6812280" y="5413248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4608576" y="3648456"/>
            <a:ext cx="109728" cy="109728"/>
          </a:xfrm>
          <a:prstGeom prst="ellipse">
            <a:avLst/>
          </a:prstGeom>
          <a:solidFill>
            <a:srgbClr val="C6A96B"/>
          </a:solidFill>
          <a:ln/>
        </p:spPr>
      </p:sp>
      <p:sp>
        <p:nvSpPr>
          <p:cNvPr id="35" name="Text 32"/>
          <p:cNvSpPr/>
          <p:nvPr/>
        </p:nvSpPr>
        <p:spPr>
          <a:xfrm>
            <a:off x="5577840" y="324612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9E8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 PULSE</a:t>
            </a:r>
            <a:endParaRPr lang="en-US" sz="700" dirty="0"/>
          </a:p>
        </p:txBody>
      </p:sp>
      <p:sp>
        <p:nvSpPr>
          <p:cNvPr id="36" name="Text 33"/>
          <p:cNvSpPr/>
          <p:nvPr/>
        </p:nvSpPr>
        <p:spPr>
          <a:xfrm>
            <a:off x="914400" y="5742432"/>
            <a:ext cx="7498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BLUE  TRIGGER     ●  GREEN  TRIGGER     ●  PURPLE  PROCESS     ●  GOLD  OUTPUT</a:t>
            </a:r>
            <a:endParaRPr lang="en-US" sz="800" dirty="0"/>
          </a:p>
        </p:txBody>
      </p:sp>
      <p:sp>
        <p:nvSpPr>
          <p:cNvPr id="37" name="Shape 34"/>
          <p:cNvSpPr/>
          <p:nvPr/>
        </p:nvSpPr>
        <p:spPr>
          <a:xfrm>
            <a:off x="9006840" y="2514600"/>
            <a:ext cx="2542032" cy="3520440"/>
          </a:xfrm>
          <a:prstGeom prst="roundRect">
            <a:avLst>
              <a:gd name="adj" fmla="val 3597"/>
            </a:avLst>
          </a:prstGeom>
          <a:solidFill>
            <a:srgbClr val="0A1931"/>
          </a:solidFill>
          <a:ln/>
          <a:effectLst>
            <a:outerShdw sx="100000" sy="100000" kx="0" ky="0" algn="bl" rotWithShape="0" blurRad="101600" dist="25400" dir="5400000">
              <a:srgbClr val="0A1931">
                <a:alpha val="8000"/>
              </a:srgbClr>
            </a:outerShdw>
          </a:effectLst>
        </p:spPr>
      </p:sp>
      <p:sp>
        <p:nvSpPr>
          <p:cNvPr id="38" name="Text 35"/>
          <p:cNvSpPr/>
          <p:nvPr/>
        </p:nvSpPr>
        <p:spPr>
          <a:xfrm>
            <a:off x="9006840" y="2679192"/>
            <a:ext cx="25420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C6A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 SWITCHES</a:t>
            </a:r>
            <a:endParaRPr lang="en-US" sz="1000" dirty="0"/>
          </a:p>
        </p:txBody>
      </p:sp>
      <p:sp>
        <p:nvSpPr>
          <p:cNvPr id="39" name="Text 36"/>
          <p:cNvSpPr/>
          <p:nvPr/>
        </p:nvSpPr>
        <p:spPr>
          <a:xfrm>
            <a:off x="9006840" y="2898648"/>
            <a:ext cx="25420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5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drawer  ·  not  7  tabs</a:t>
            </a:r>
            <a:endParaRPr lang="en-US" sz="800" dirty="0"/>
          </a:p>
        </p:txBody>
      </p:sp>
      <p:sp>
        <p:nvSpPr>
          <p:cNvPr id="40" name="Shape 37"/>
          <p:cNvSpPr/>
          <p:nvPr/>
        </p:nvSpPr>
        <p:spPr>
          <a:xfrm>
            <a:off x="9189720" y="3246120"/>
            <a:ext cx="2176272" cy="237744"/>
          </a:xfrm>
          <a:prstGeom prst="roundRect">
            <a:avLst>
              <a:gd name="adj" fmla="val 50000"/>
            </a:avLst>
          </a:prstGeom>
          <a:solidFill>
            <a:srgbClr val="1E3A5F"/>
          </a:solidFill>
          <a:ln/>
        </p:spPr>
      </p:sp>
      <p:sp>
        <p:nvSpPr>
          <p:cNvPr id="41" name="Shape 38"/>
          <p:cNvSpPr/>
          <p:nvPr/>
        </p:nvSpPr>
        <p:spPr>
          <a:xfrm>
            <a:off x="11091672" y="3273552"/>
            <a:ext cx="182880" cy="182880"/>
          </a:xfrm>
          <a:prstGeom prst="ellipse">
            <a:avLst/>
          </a:prstGeom>
          <a:solidFill>
            <a:srgbClr val="C6A96B"/>
          </a:solidFill>
          <a:ln/>
        </p:spPr>
      </p:sp>
      <p:sp>
        <p:nvSpPr>
          <p:cNvPr id="42" name="Text 39"/>
          <p:cNvSpPr/>
          <p:nvPr/>
        </p:nvSpPr>
        <p:spPr>
          <a:xfrm>
            <a:off x="9326880" y="3246120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</a:t>
            </a:r>
            <a:endParaRPr lang="en-US" sz="900" dirty="0"/>
          </a:p>
        </p:txBody>
      </p:sp>
      <p:sp>
        <p:nvSpPr>
          <p:cNvPr id="43" name="Shape 40"/>
          <p:cNvSpPr/>
          <p:nvPr/>
        </p:nvSpPr>
        <p:spPr>
          <a:xfrm>
            <a:off x="9189720" y="3520440"/>
            <a:ext cx="2176272" cy="237744"/>
          </a:xfrm>
          <a:prstGeom prst="roundRect">
            <a:avLst>
              <a:gd name="adj" fmla="val 50000"/>
            </a:avLst>
          </a:prstGeom>
          <a:solidFill>
            <a:srgbClr val="1E3A5F"/>
          </a:solidFill>
          <a:ln/>
        </p:spPr>
      </p:sp>
      <p:sp>
        <p:nvSpPr>
          <p:cNvPr id="44" name="Shape 41"/>
          <p:cNvSpPr/>
          <p:nvPr/>
        </p:nvSpPr>
        <p:spPr>
          <a:xfrm>
            <a:off x="11091672" y="3547872"/>
            <a:ext cx="182880" cy="182880"/>
          </a:xfrm>
          <a:prstGeom prst="ellipse">
            <a:avLst/>
          </a:prstGeom>
          <a:solidFill>
            <a:srgbClr val="C6A96B"/>
          </a:solidFill>
          <a:ln/>
        </p:spPr>
      </p:sp>
      <p:sp>
        <p:nvSpPr>
          <p:cNvPr id="45" name="Text 42"/>
          <p:cNvSpPr/>
          <p:nvPr/>
        </p:nvSpPr>
        <p:spPr>
          <a:xfrm>
            <a:off x="9326880" y="3520440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</a:t>
            </a:r>
            <a:endParaRPr lang="en-US" sz="900" dirty="0"/>
          </a:p>
        </p:txBody>
      </p:sp>
      <p:sp>
        <p:nvSpPr>
          <p:cNvPr id="46" name="Shape 43"/>
          <p:cNvSpPr/>
          <p:nvPr/>
        </p:nvSpPr>
        <p:spPr>
          <a:xfrm>
            <a:off x="9189720" y="3794760"/>
            <a:ext cx="2176272" cy="237744"/>
          </a:xfrm>
          <a:prstGeom prst="roundRect">
            <a:avLst>
              <a:gd name="adj" fmla="val 50000"/>
            </a:avLst>
          </a:prstGeom>
          <a:solidFill>
            <a:srgbClr val="1E3A5F"/>
          </a:solidFill>
          <a:ln/>
        </p:spPr>
      </p:sp>
      <p:sp>
        <p:nvSpPr>
          <p:cNvPr id="47" name="Shape 44"/>
          <p:cNvSpPr/>
          <p:nvPr/>
        </p:nvSpPr>
        <p:spPr>
          <a:xfrm>
            <a:off x="11091672" y="3822192"/>
            <a:ext cx="182880" cy="182880"/>
          </a:xfrm>
          <a:prstGeom prst="ellipse">
            <a:avLst/>
          </a:prstGeom>
          <a:solidFill>
            <a:srgbClr val="C6A96B"/>
          </a:solidFill>
          <a:ln/>
        </p:spPr>
      </p:sp>
      <p:sp>
        <p:nvSpPr>
          <p:cNvPr id="48" name="Text 45"/>
          <p:cNvSpPr/>
          <p:nvPr/>
        </p:nvSpPr>
        <p:spPr>
          <a:xfrm>
            <a:off x="9326880" y="3794760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Notion</a:t>
            </a:r>
            <a:endParaRPr lang="en-US" sz="900" dirty="0"/>
          </a:p>
        </p:txBody>
      </p:sp>
      <p:sp>
        <p:nvSpPr>
          <p:cNvPr id="49" name="Shape 46"/>
          <p:cNvSpPr/>
          <p:nvPr/>
        </p:nvSpPr>
        <p:spPr>
          <a:xfrm>
            <a:off x="9189720" y="4069080"/>
            <a:ext cx="2176272" cy="237744"/>
          </a:xfrm>
          <a:prstGeom prst="roundRect">
            <a:avLst>
              <a:gd name="adj" fmla="val 50000"/>
            </a:avLst>
          </a:prstGeom>
          <a:solidFill>
            <a:srgbClr val="1E3A5F"/>
          </a:solidFill>
          <a:ln/>
        </p:spPr>
      </p:sp>
      <p:sp>
        <p:nvSpPr>
          <p:cNvPr id="50" name="Shape 47"/>
          <p:cNvSpPr/>
          <p:nvPr/>
        </p:nvSpPr>
        <p:spPr>
          <a:xfrm>
            <a:off x="11091672" y="4096512"/>
            <a:ext cx="182880" cy="182880"/>
          </a:xfrm>
          <a:prstGeom prst="ellipse">
            <a:avLst/>
          </a:prstGeom>
          <a:solidFill>
            <a:srgbClr val="C6A96B"/>
          </a:solidFill>
          <a:ln/>
        </p:spPr>
      </p:sp>
      <p:sp>
        <p:nvSpPr>
          <p:cNvPr id="51" name="Text 48"/>
          <p:cNvSpPr/>
          <p:nvPr/>
        </p:nvSpPr>
        <p:spPr>
          <a:xfrm>
            <a:off x="9326880" y="4069080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</a:t>
            </a:r>
            <a:endParaRPr lang="en-US" sz="900" dirty="0"/>
          </a:p>
        </p:txBody>
      </p:sp>
      <p:sp>
        <p:nvSpPr>
          <p:cNvPr id="52" name="Shape 49"/>
          <p:cNvSpPr/>
          <p:nvPr/>
        </p:nvSpPr>
        <p:spPr>
          <a:xfrm>
            <a:off x="9189720" y="4343400"/>
            <a:ext cx="2176272" cy="237744"/>
          </a:xfrm>
          <a:prstGeom prst="roundRect">
            <a:avLst>
              <a:gd name="adj" fmla="val 50000"/>
            </a:avLst>
          </a:prstGeom>
          <a:solidFill>
            <a:srgbClr val="1E3A5F"/>
          </a:solidFill>
          <a:ln/>
        </p:spPr>
      </p:sp>
      <p:sp>
        <p:nvSpPr>
          <p:cNvPr id="53" name="Shape 50"/>
          <p:cNvSpPr/>
          <p:nvPr/>
        </p:nvSpPr>
        <p:spPr>
          <a:xfrm>
            <a:off x="11091672" y="4370832"/>
            <a:ext cx="182880" cy="182880"/>
          </a:xfrm>
          <a:prstGeom prst="ellipse">
            <a:avLst/>
          </a:prstGeom>
          <a:solidFill>
            <a:srgbClr val="C6A96B"/>
          </a:solidFill>
          <a:ln/>
        </p:spPr>
      </p:sp>
      <p:sp>
        <p:nvSpPr>
          <p:cNvPr id="54" name="Text 51"/>
          <p:cNvSpPr/>
          <p:nvPr/>
        </p:nvSpPr>
        <p:spPr>
          <a:xfrm>
            <a:off x="9326880" y="4343400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900" dirty="0"/>
          </a:p>
        </p:txBody>
      </p:sp>
      <p:sp>
        <p:nvSpPr>
          <p:cNvPr id="55" name="Shape 52"/>
          <p:cNvSpPr/>
          <p:nvPr/>
        </p:nvSpPr>
        <p:spPr>
          <a:xfrm>
            <a:off x="9189720" y="4617720"/>
            <a:ext cx="2176272" cy="237744"/>
          </a:xfrm>
          <a:prstGeom prst="roundRect">
            <a:avLst>
              <a:gd name="adj" fmla="val 50000"/>
            </a:avLst>
          </a:prstGeom>
          <a:solidFill>
            <a:srgbClr val="1E3A5F"/>
          </a:solidFill>
          <a:ln/>
        </p:spPr>
      </p:sp>
      <p:sp>
        <p:nvSpPr>
          <p:cNvPr id="56" name="Shape 53"/>
          <p:cNvSpPr/>
          <p:nvPr/>
        </p:nvSpPr>
        <p:spPr>
          <a:xfrm>
            <a:off x="11091672" y="4645152"/>
            <a:ext cx="182880" cy="182880"/>
          </a:xfrm>
          <a:prstGeom prst="ellipse">
            <a:avLst/>
          </a:prstGeom>
          <a:solidFill>
            <a:srgbClr val="C6A96B"/>
          </a:solidFill>
          <a:ln/>
        </p:spPr>
      </p:sp>
      <p:sp>
        <p:nvSpPr>
          <p:cNvPr id="57" name="Text 54"/>
          <p:cNvSpPr/>
          <p:nvPr/>
        </p:nvSpPr>
        <p:spPr>
          <a:xfrm>
            <a:off x="9326880" y="4617720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Gmail</a:t>
            </a:r>
            <a:endParaRPr lang="en-US" sz="900" dirty="0"/>
          </a:p>
        </p:txBody>
      </p:sp>
      <p:sp>
        <p:nvSpPr>
          <p:cNvPr id="58" name="Shape 55"/>
          <p:cNvSpPr/>
          <p:nvPr/>
        </p:nvSpPr>
        <p:spPr>
          <a:xfrm>
            <a:off x="9189720" y="4892040"/>
            <a:ext cx="2176272" cy="237744"/>
          </a:xfrm>
          <a:prstGeom prst="roundRect">
            <a:avLst>
              <a:gd name="adj" fmla="val 50000"/>
            </a:avLst>
          </a:prstGeom>
          <a:solidFill>
            <a:srgbClr val="1E3A5F"/>
          </a:solidFill>
          <a:ln/>
        </p:spPr>
      </p:sp>
      <p:sp>
        <p:nvSpPr>
          <p:cNvPr id="59" name="Shape 56"/>
          <p:cNvSpPr/>
          <p:nvPr/>
        </p:nvSpPr>
        <p:spPr>
          <a:xfrm>
            <a:off x="11091672" y="4919472"/>
            <a:ext cx="182880" cy="182880"/>
          </a:xfrm>
          <a:prstGeom prst="ellipse">
            <a:avLst/>
          </a:prstGeom>
          <a:solidFill>
            <a:srgbClr val="C6A96B"/>
          </a:solidFill>
          <a:ln/>
        </p:spPr>
      </p:sp>
      <p:sp>
        <p:nvSpPr>
          <p:cNvPr id="60" name="Text 57"/>
          <p:cNvSpPr/>
          <p:nvPr/>
        </p:nvSpPr>
        <p:spPr>
          <a:xfrm>
            <a:off x="9326880" y="4892040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Sheets</a:t>
            </a:r>
            <a:endParaRPr lang="en-US" sz="900" dirty="0"/>
          </a:p>
        </p:txBody>
      </p:sp>
      <p:sp>
        <p:nvSpPr>
          <p:cNvPr id="61" name="Shape 58"/>
          <p:cNvSpPr/>
          <p:nvPr/>
        </p:nvSpPr>
        <p:spPr>
          <a:xfrm>
            <a:off x="9189720" y="5166360"/>
            <a:ext cx="2176272" cy="237744"/>
          </a:xfrm>
          <a:prstGeom prst="roundRect">
            <a:avLst>
              <a:gd name="adj" fmla="val 50000"/>
            </a:avLst>
          </a:prstGeom>
          <a:solidFill>
            <a:srgbClr val="1E3A5F"/>
          </a:solidFill>
          <a:ln/>
        </p:spPr>
      </p:sp>
      <p:sp>
        <p:nvSpPr>
          <p:cNvPr id="62" name="Shape 59"/>
          <p:cNvSpPr/>
          <p:nvPr/>
        </p:nvSpPr>
        <p:spPr>
          <a:xfrm>
            <a:off x="11091672" y="5193792"/>
            <a:ext cx="182880" cy="182880"/>
          </a:xfrm>
          <a:prstGeom prst="ellipse">
            <a:avLst/>
          </a:prstGeom>
          <a:solidFill>
            <a:srgbClr val="C6A96B"/>
          </a:solidFill>
          <a:ln/>
        </p:spPr>
      </p:sp>
      <p:sp>
        <p:nvSpPr>
          <p:cNvPr id="63" name="Text 60"/>
          <p:cNvSpPr/>
          <p:nvPr/>
        </p:nvSpPr>
        <p:spPr>
          <a:xfrm>
            <a:off x="9326880" y="5166360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900" dirty="0"/>
          </a:p>
        </p:txBody>
      </p:sp>
      <p:sp>
        <p:nvSpPr>
          <p:cNvPr id="64" name="Shape 61"/>
          <p:cNvSpPr/>
          <p:nvPr/>
        </p:nvSpPr>
        <p:spPr>
          <a:xfrm>
            <a:off x="9189720" y="5440680"/>
            <a:ext cx="2176272" cy="237744"/>
          </a:xfrm>
          <a:prstGeom prst="roundRect">
            <a:avLst>
              <a:gd name="adj" fmla="val 50000"/>
            </a:avLst>
          </a:prstGeom>
          <a:solidFill>
            <a:srgbClr val="1E3A5F"/>
          </a:solidFill>
          <a:ln/>
        </p:spPr>
      </p:sp>
      <p:sp>
        <p:nvSpPr>
          <p:cNvPr id="65" name="Shape 62"/>
          <p:cNvSpPr/>
          <p:nvPr/>
        </p:nvSpPr>
        <p:spPr>
          <a:xfrm>
            <a:off x="11091672" y="5468112"/>
            <a:ext cx="182880" cy="182880"/>
          </a:xfrm>
          <a:prstGeom prst="ellipse">
            <a:avLst/>
          </a:prstGeom>
          <a:solidFill>
            <a:srgbClr val="C6A96B"/>
          </a:solidFill>
          <a:ln/>
        </p:spPr>
      </p:sp>
      <p:sp>
        <p:nvSpPr>
          <p:cNvPr id="66" name="Text 63"/>
          <p:cNvSpPr/>
          <p:nvPr/>
        </p:nvSpPr>
        <p:spPr>
          <a:xfrm>
            <a:off x="9326880" y="5440680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</a:t>
            </a:r>
            <a:endParaRPr lang="en-US" sz="900" dirty="0"/>
          </a:p>
        </p:txBody>
      </p:sp>
      <p:sp>
        <p:nvSpPr>
          <p:cNvPr id="67" name="Text 64"/>
          <p:cNvSpPr/>
          <p:nvPr/>
        </p:nvSpPr>
        <p:spPr>
          <a:xfrm>
            <a:off x="64008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AURUM FORGE</a:t>
            </a:r>
            <a:endParaRPr lang="en-US" sz="900" dirty="0"/>
          </a:p>
        </p:txBody>
      </p:sp>
      <p:sp>
        <p:nvSpPr>
          <p:cNvPr id="68" name="Text 65"/>
          <p:cNvSpPr/>
          <p:nvPr/>
        </p:nvSpPr>
        <p:spPr>
          <a:xfrm>
            <a:off x="7891272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400" kern="0" dirty="0">
                <a:solidFill>
                  <a:srgbClr val="8A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OF POSSIBLE 2026</a:t>
            </a:r>
            <a:endParaRPr lang="en-US" sz="900" dirty="0"/>
          </a:p>
        </p:txBody>
      </p:sp>
      <p:sp>
        <p:nvSpPr>
          <p:cNvPr id="69" name="Shape 66"/>
          <p:cNvSpPr/>
          <p:nvPr/>
        </p:nvSpPr>
        <p:spPr>
          <a:xfrm>
            <a:off x="6048756" y="6464808"/>
            <a:ext cx="91440" cy="91440"/>
          </a:xfrm>
          <a:prstGeom prst="ellipse">
            <a:avLst/>
          </a:prstGeom>
          <a:solidFill>
            <a:srgbClr val="C6A96B"/>
          </a:solidFill>
          <a:ln/>
        </p:spPr>
      </p:sp>
      <p:sp>
        <p:nvSpPr>
          <p:cNvPr id="70" name="Text 67"/>
          <p:cNvSpPr/>
          <p:nvPr/>
        </p:nvSpPr>
        <p:spPr>
          <a:xfrm>
            <a:off x="5545836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8A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13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aurum_forge_logo_c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457200"/>
            <a:ext cx="73152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10515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0A19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62 → 65 in 0.1 Seconds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640080" y="16916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discovery. No restart. Hash-stable across additions.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640080" y="2057400"/>
            <a:ext cx="457200" cy="0"/>
          </a:xfrm>
          <a:prstGeom prst="line">
            <a:avLst/>
          </a:prstGeom>
          <a:noFill/>
          <a:ln w="25400">
            <a:solidFill>
              <a:srgbClr val="C6A96B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81228" y="2423160"/>
            <a:ext cx="3456432" cy="2651760"/>
          </a:xfrm>
          <a:prstGeom prst="roundRect">
            <a:avLst>
              <a:gd name="adj" fmla="val 3448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38100" dir="5400000">
              <a:srgbClr val="0A1931">
                <a:alpha val="6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955548" y="2697480"/>
            <a:ext cx="164592" cy="164592"/>
          </a:xfrm>
          <a:prstGeom prst="ellipse">
            <a:avLst/>
          </a:prstGeom>
          <a:solidFill>
            <a:srgbClr val="B85450"/>
          </a:solidFill>
          <a:ln/>
        </p:spPr>
      </p:sp>
      <p:sp>
        <p:nvSpPr>
          <p:cNvPr id="8" name="Text 5"/>
          <p:cNvSpPr/>
          <p:nvPr/>
        </p:nvSpPr>
        <p:spPr>
          <a:xfrm>
            <a:off x="1184148" y="2651760"/>
            <a:ext cx="2816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 STATIC  MCP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955548" y="3063240"/>
            <a:ext cx="365760" cy="0"/>
          </a:xfrm>
          <a:prstGeom prst="line">
            <a:avLst/>
          </a:prstGeom>
          <a:noFill/>
          <a:ln w="19050">
            <a:solidFill>
              <a:srgbClr val="B8545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55548" y="3200400"/>
            <a:ext cx="2907792" cy="1783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B85450"/>
                </a:solidFill>
              </a:rPr>
              <a:t>▸ </a:t>
            </a:r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4A5568"/>
                </a:solidFill>
              </a:rPr>
              <a:t>50 entries — one per IDE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B85450"/>
                </a:solidFill>
              </a:rPr>
              <a:t>▸ </a:t>
            </a:r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4A5568"/>
                </a:solidFill>
              </a:rPr>
              <a:t>Restart required on every change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B85450"/>
                </a:solidFill>
              </a:rPr>
              <a:t>▸ </a:t>
            </a:r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4A5568"/>
                </a:solidFill>
              </a:rPr>
              <a:t>Manual edits to manifest JSON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B85450"/>
                </a:solidFill>
              </a:rPr>
              <a:t>▸ </a:t>
            </a:r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4A5568"/>
                </a:solidFill>
              </a:rPr>
              <a:t>Hash breaks on any tool swap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366260" y="2423160"/>
            <a:ext cx="3456432" cy="2651760"/>
          </a:xfrm>
          <a:prstGeom prst="roundRect">
            <a:avLst>
              <a:gd name="adj" fmla="val 3448"/>
            </a:avLst>
          </a:prstGeom>
          <a:solidFill>
            <a:srgbClr val="FBF6EA"/>
          </a:solidFill>
          <a:ln w="12700">
            <a:solidFill>
              <a:srgbClr val="C6A96B"/>
            </a:solidFill>
            <a:prstDash val="solid"/>
          </a:ln>
          <a:effectLst>
            <a:outerShdw sx="100000" sy="100000" kx="0" ky="0" algn="bl" rotWithShape="0" blurRad="127000" dist="25400" dir="5400000">
              <a:srgbClr val="9E8047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640580" y="2697480"/>
            <a:ext cx="164592" cy="164592"/>
          </a:xfrm>
          <a:prstGeom prst="ellipse">
            <a:avLst/>
          </a:prstGeom>
          <a:solidFill>
            <a:srgbClr val="9E8047"/>
          </a:solidFill>
          <a:ln/>
        </p:spPr>
      </p:sp>
      <p:sp>
        <p:nvSpPr>
          <p:cNvPr id="13" name="Text 10"/>
          <p:cNvSpPr/>
          <p:nvPr/>
        </p:nvSpPr>
        <p:spPr>
          <a:xfrm>
            <a:off x="4869180" y="2651760"/>
            <a:ext cx="2816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SUPER-HUB  DYNAMIC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640580" y="3063240"/>
            <a:ext cx="365760" cy="0"/>
          </a:xfrm>
          <a:prstGeom prst="line">
            <a:avLst/>
          </a:prstGeom>
          <a:noFill/>
          <a:ln w="19050">
            <a:solidFill>
              <a:srgbClr val="9E804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640580" y="3200400"/>
            <a:ext cx="2907792" cy="1783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9E8047"/>
                </a:solidFill>
              </a:rPr>
              <a:t>▸ </a:t>
            </a:r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4A5568"/>
                </a:solidFill>
              </a:rPr>
              <a:t>1 entry — forge-aurum-hub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9E8047"/>
                </a:solidFill>
              </a:rPr>
              <a:t>▸ </a:t>
            </a:r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4A5568"/>
                </a:solidFill>
              </a:rPr>
              <a:t>mcp_registry polling, no restart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9E8047"/>
                </a:solidFill>
              </a:rPr>
              <a:t>▸ </a:t>
            </a:r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4A5568"/>
                </a:solidFill>
              </a:rPr>
              <a:t>give_once:true · '/' paths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9E8047"/>
                </a:solidFill>
              </a:rPr>
              <a:t>▸ </a:t>
            </a:r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4A5568"/>
                </a:solidFill>
              </a:rPr>
              <a:t>Hash unchanged across additions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8051292" y="2423160"/>
            <a:ext cx="3456432" cy="2651760"/>
          </a:xfrm>
          <a:prstGeom prst="roundRect">
            <a:avLst>
              <a:gd name="adj" fmla="val 3448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38100" dir="5400000">
              <a:srgbClr val="0A1931">
                <a:alpha val="6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8325612" y="2697480"/>
            <a:ext cx="164592" cy="16459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8" name="Text 15"/>
          <p:cNvSpPr/>
          <p:nvPr/>
        </p:nvSpPr>
        <p:spPr>
          <a:xfrm>
            <a:off x="8554212" y="2651760"/>
            <a:ext cx="2816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 ·  VERIFIED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8325612" y="3063240"/>
            <a:ext cx="365760" cy="0"/>
          </a:xfrm>
          <a:prstGeom prst="line">
            <a:avLst/>
          </a:prstGeom>
          <a:noFill/>
          <a:ln w="19050">
            <a:solidFill>
              <a:srgbClr val="10B981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325612" y="3200400"/>
            <a:ext cx="2907792" cy="1783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10B981"/>
                </a:solidFill>
              </a:rPr>
              <a:t>▸ </a:t>
            </a:r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4A5568"/>
                </a:solidFill>
              </a:rPr>
              <a:t>Auto-update in 0.1s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10B981"/>
                </a:solidFill>
              </a:rPr>
              <a:t>▸ </a:t>
            </a:r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4A5568"/>
                </a:solidFill>
              </a:rPr>
              <a:t>0 tokens burned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10B981"/>
                </a:solidFill>
              </a:rPr>
              <a:t>▸ </a:t>
            </a:r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4A5568"/>
                </a:solidFill>
              </a:rPr>
              <a:t>$0 runtime cost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10B981"/>
                </a:solidFill>
              </a:rPr>
              <a:t>▸ </a:t>
            </a:r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4A5568"/>
                </a:solidFill>
              </a:rPr>
              <a:t>aurum_verified 12-char hash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1005840" y="5440680"/>
            <a:ext cx="10177272" cy="640080"/>
          </a:xfrm>
          <a:prstGeom prst="roundRect">
            <a:avLst>
              <a:gd name="adj" fmla="val 14286"/>
            </a:avLst>
          </a:prstGeom>
          <a:solidFill>
            <a:srgbClr val="0A1931"/>
          </a:solidFill>
          <a:ln/>
        </p:spPr>
      </p:sp>
      <p:sp>
        <p:nvSpPr>
          <p:cNvPr id="22" name="Shape 19"/>
          <p:cNvSpPr/>
          <p:nvPr/>
        </p:nvSpPr>
        <p:spPr>
          <a:xfrm>
            <a:off x="1463040" y="5760720"/>
            <a:ext cx="9262872" cy="0"/>
          </a:xfrm>
          <a:prstGeom prst="line">
            <a:avLst/>
          </a:prstGeom>
          <a:noFill/>
          <a:ln w="19050">
            <a:solidFill>
              <a:srgbClr val="C6A96B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1389888" y="5687568"/>
            <a:ext cx="146304" cy="146304"/>
          </a:xfrm>
          <a:prstGeom prst="ellipse">
            <a:avLst/>
          </a:prstGeom>
          <a:solidFill>
            <a:srgbClr val="C6A96B"/>
          </a:solidFill>
          <a:ln/>
        </p:spPr>
      </p:sp>
      <p:sp>
        <p:nvSpPr>
          <p:cNvPr id="24" name="Text 21"/>
          <p:cNvSpPr/>
          <p:nvPr/>
        </p:nvSpPr>
        <p:spPr>
          <a:xfrm>
            <a:off x="731520" y="5513832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 tools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731520" y="580644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6A96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stable</a:t>
            </a:r>
            <a:endParaRPr lang="en-US" sz="800" dirty="0"/>
          </a:p>
        </p:txBody>
      </p:sp>
      <p:sp>
        <p:nvSpPr>
          <p:cNvPr id="26" name="Shape 23"/>
          <p:cNvSpPr/>
          <p:nvPr/>
        </p:nvSpPr>
        <p:spPr>
          <a:xfrm>
            <a:off x="6021324" y="5687568"/>
            <a:ext cx="146304" cy="146304"/>
          </a:xfrm>
          <a:prstGeom prst="ellipse">
            <a:avLst/>
          </a:prstGeom>
          <a:solidFill>
            <a:srgbClr val="C6A96B"/>
          </a:solidFill>
          <a:ln/>
        </p:spPr>
      </p:sp>
      <p:sp>
        <p:nvSpPr>
          <p:cNvPr id="27" name="Text 24"/>
          <p:cNvSpPr/>
          <p:nvPr/>
        </p:nvSpPr>
        <p:spPr>
          <a:xfrm>
            <a:off x="5362956" y="5513832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 added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5362956" y="580644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6A96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0.1s</a:t>
            </a:r>
            <a:endParaRPr lang="en-US" sz="800" dirty="0"/>
          </a:p>
        </p:txBody>
      </p:sp>
      <p:sp>
        <p:nvSpPr>
          <p:cNvPr id="29" name="Shape 26"/>
          <p:cNvSpPr/>
          <p:nvPr/>
        </p:nvSpPr>
        <p:spPr>
          <a:xfrm>
            <a:off x="10652760" y="5687568"/>
            <a:ext cx="146304" cy="146304"/>
          </a:xfrm>
          <a:prstGeom prst="ellipse">
            <a:avLst/>
          </a:prstGeom>
          <a:solidFill>
            <a:srgbClr val="C6A96B"/>
          </a:solidFill>
          <a:ln/>
        </p:spPr>
      </p:sp>
      <p:sp>
        <p:nvSpPr>
          <p:cNvPr id="30" name="Text 27"/>
          <p:cNvSpPr/>
          <p:nvPr/>
        </p:nvSpPr>
        <p:spPr>
          <a:xfrm>
            <a:off x="9994392" y="5513832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 tools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9994392" y="580644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6A96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hash stable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1005840" y="6126480"/>
            <a:ext cx="101772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spc="300" kern="0" dirty="0">
                <a:solidFill>
                  <a:srgbClr val="8A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 UNCHANGED  ACROSS  ADDITIONS</a:t>
            </a:r>
            <a:endParaRPr lang="en-US" sz="700" dirty="0"/>
          </a:p>
        </p:txBody>
      </p:sp>
      <p:sp>
        <p:nvSpPr>
          <p:cNvPr id="33" name="Text 30"/>
          <p:cNvSpPr/>
          <p:nvPr/>
        </p:nvSpPr>
        <p:spPr>
          <a:xfrm>
            <a:off x="64008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AURUM FORGE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7891272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400" kern="0" dirty="0">
                <a:solidFill>
                  <a:srgbClr val="8A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OF POSSIBLE 2026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6048756" y="6464808"/>
            <a:ext cx="91440" cy="91440"/>
          </a:xfrm>
          <a:prstGeom prst="ellipse">
            <a:avLst/>
          </a:prstGeom>
          <a:solidFill>
            <a:srgbClr val="C6A96B"/>
          </a:solidFill>
          <a:ln/>
        </p:spPr>
      </p:sp>
      <p:sp>
        <p:nvSpPr>
          <p:cNvPr id="36" name="Text 33"/>
          <p:cNvSpPr/>
          <p:nvPr/>
        </p:nvSpPr>
        <p:spPr>
          <a:xfrm>
            <a:off x="5545836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8A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13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aurum_forge_logo_c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457200"/>
            <a:ext cx="73152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10515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0A19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Orchestration Chains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640080" y="169164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forge, five prebuilt chains. Content is the hero — see it proven on the next slide.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640080" y="2057400"/>
            <a:ext cx="457200" cy="0"/>
          </a:xfrm>
          <a:prstGeom prst="line">
            <a:avLst/>
          </a:prstGeom>
          <a:noFill/>
          <a:ln w="25400">
            <a:solidFill>
              <a:srgbClr val="C6A96B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40080" y="2423160"/>
            <a:ext cx="10908792" cy="685800"/>
          </a:xfrm>
          <a:prstGeom prst="roundRect">
            <a:avLst>
              <a:gd name="adj" fmla="val 10667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914400" y="2587752"/>
            <a:ext cx="1280160" cy="356616"/>
          </a:xfrm>
          <a:prstGeom prst="roundRect">
            <a:avLst>
              <a:gd name="adj" fmla="val 15385"/>
            </a:avLst>
          </a:prstGeom>
          <a:solidFill>
            <a:srgbClr val="0A1931"/>
          </a:solidFill>
          <a:ln/>
        </p:spPr>
      </p:sp>
      <p:sp>
        <p:nvSpPr>
          <p:cNvPr id="8" name="Text 5"/>
          <p:cNvSpPr/>
          <p:nvPr/>
        </p:nvSpPr>
        <p:spPr>
          <a:xfrm>
            <a:off x="914400" y="2587752"/>
            <a:ext cx="128016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086100" y="2583180"/>
            <a:ext cx="365760" cy="365760"/>
          </a:xfrm>
          <a:prstGeom prst="ellipse">
            <a:avLst/>
          </a:prstGeom>
          <a:solidFill>
            <a:srgbClr val="0A1931"/>
          </a:solidFill>
          <a:ln/>
        </p:spPr>
      </p:sp>
      <p:sp>
        <p:nvSpPr>
          <p:cNvPr id="10" name="Text 7"/>
          <p:cNvSpPr/>
          <p:nvPr/>
        </p:nvSpPr>
        <p:spPr>
          <a:xfrm>
            <a:off x="3086100" y="25831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2811780" y="2967228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3488436" y="2766060"/>
            <a:ext cx="1161288" cy="0"/>
          </a:xfrm>
          <a:prstGeom prst="line">
            <a:avLst/>
          </a:prstGeom>
          <a:noFill/>
          <a:ln w="19050">
            <a:solidFill>
              <a:srgbClr val="8A95A8"/>
            </a:solidFill>
            <a:prstDash val="solid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4686300" y="2583180"/>
            <a:ext cx="365760" cy="36576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4" name="Text 11"/>
          <p:cNvSpPr/>
          <p:nvPr/>
        </p:nvSpPr>
        <p:spPr>
          <a:xfrm>
            <a:off x="4686300" y="25831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411980" y="2967228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5088636" y="2766060"/>
            <a:ext cx="1161288" cy="0"/>
          </a:xfrm>
          <a:prstGeom prst="line">
            <a:avLst/>
          </a:prstGeom>
          <a:noFill/>
          <a:ln w="19050">
            <a:solidFill>
              <a:srgbClr val="8A95A8"/>
            </a:solidFill>
            <a:prstDash val="solid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6286500" y="2583180"/>
            <a:ext cx="365760" cy="36576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8" name="Text 15"/>
          <p:cNvSpPr/>
          <p:nvPr/>
        </p:nvSpPr>
        <p:spPr>
          <a:xfrm>
            <a:off x="6286500" y="25831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012180" y="2967228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Notion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6688836" y="2766060"/>
            <a:ext cx="1161288" cy="0"/>
          </a:xfrm>
          <a:prstGeom prst="line">
            <a:avLst/>
          </a:prstGeom>
          <a:noFill/>
          <a:ln w="19050">
            <a:solidFill>
              <a:srgbClr val="8A95A8"/>
            </a:solidFill>
            <a:prstDash val="solid"/>
            <a:tailEnd type="triangle"/>
          </a:ln>
        </p:spPr>
      </p:sp>
      <p:sp>
        <p:nvSpPr>
          <p:cNvPr id="21" name="Shape 18"/>
          <p:cNvSpPr/>
          <p:nvPr/>
        </p:nvSpPr>
        <p:spPr>
          <a:xfrm>
            <a:off x="7886700" y="2583180"/>
            <a:ext cx="365760" cy="36576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22" name="Text 19"/>
          <p:cNvSpPr/>
          <p:nvPr/>
        </p:nvSpPr>
        <p:spPr>
          <a:xfrm>
            <a:off x="7886700" y="25831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7612380" y="2967228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9811512" y="2606040"/>
            <a:ext cx="1554480" cy="32004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9811512" y="2651760"/>
            <a:ext cx="1554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spc="200" kern="0" dirty="0">
                <a:solidFill>
                  <a:srgbClr val="9E8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700" dirty="0"/>
          </a:p>
        </p:txBody>
      </p:sp>
      <p:sp>
        <p:nvSpPr>
          <p:cNvPr id="26" name="Text 23"/>
          <p:cNvSpPr/>
          <p:nvPr/>
        </p:nvSpPr>
        <p:spPr>
          <a:xfrm>
            <a:off x="9857232" y="2807208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93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research brief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640080" y="3182112"/>
            <a:ext cx="10908792" cy="685800"/>
          </a:xfrm>
          <a:prstGeom prst="roundRect">
            <a:avLst>
              <a:gd name="adj" fmla="val 10667"/>
            </a:avLst>
          </a:prstGeom>
          <a:solidFill>
            <a:srgbClr val="FBF6EA"/>
          </a:solidFill>
          <a:ln w="12700">
            <a:solidFill>
              <a:srgbClr val="C6A96B"/>
            </a:solidFill>
            <a:prstDash val="solid"/>
          </a:ln>
          <a:effectLst>
            <a:outerShdw sx="100000" sy="100000" kx="0" ky="0" algn="bl" rotWithShape="0" blurRad="127000" dist="25400" dir="5400000">
              <a:srgbClr val="9E8047">
                <a:alpha val="12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914400" y="3346704"/>
            <a:ext cx="1280160" cy="356616"/>
          </a:xfrm>
          <a:prstGeom prst="roundRect">
            <a:avLst>
              <a:gd name="adj" fmla="val 15385"/>
            </a:avLst>
          </a:prstGeom>
          <a:solidFill>
            <a:srgbClr val="C6A96B"/>
          </a:solidFill>
          <a:ln/>
        </p:spPr>
      </p:sp>
      <p:sp>
        <p:nvSpPr>
          <p:cNvPr id="29" name="Text 26"/>
          <p:cNvSpPr/>
          <p:nvPr/>
        </p:nvSpPr>
        <p:spPr>
          <a:xfrm>
            <a:off x="914400" y="3346704"/>
            <a:ext cx="128016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3086100" y="3342132"/>
            <a:ext cx="365760" cy="36576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31" name="Text 28"/>
          <p:cNvSpPr/>
          <p:nvPr/>
        </p:nvSpPr>
        <p:spPr>
          <a:xfrm>
            <a:off x="3086100" y="334213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2811780" y="3726180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3488436" y="3525012"/>
            <a:ext cx="1161288" cy="0"/>
          </a:xfrm>
          <a:prstGeom prst="line">
            <a:avLst/>
          </a:prstGeom>
          <a:noFill/>
          <a:ln w="19050">
            <a:solidFill>
              <a:srgbClr val="9E8047"/>
            </a:solidFill>
            <a:prstDash val="solid"/>
            <a:tailEnd type="triangle"/>
          </a:ln>
        </p:spPr>
      </p:sp>
      <p:sp>
        <p:nvSpPr>
          <p:cNvPr id="34" name="Shape 31"/>
          <p:cNvSpPr/>
          <p:nvPr/>
        </p:nvSpPr>
        <p:spPr>
          <a:xfrm>
            <a:off x="4686300" y="3342132"/>
            <a:ext cx="365760" cy="36576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5" name="Text 32"/>
          <p:cNvSpPr/>
          <p:nvPr/>
        </p:nvSpPr>
        <p:spPr>
          <a:xfrm>
            <a:off x="4686300" y="334213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4411980" y="3726180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</a:t>
            </a:r>
            <a:endParaRPr lang="en-US" sz="800" dirty="0"/>
          </a:p>
        </p:txBody>
      </p:sp>
      <p:sp>
        <p:nvSpPr>
          <p:cNvPr id="37" name="Shape 34"/>
          <p:cNvSpPr/>
          <p:nvPr/>
        </p:nvSpPr>
        <p:spPr>
          <a:xfrm>
            <a:off x="5088636" y="3525012"/>
            <a:ext cx="1161288" cy="0"/>
          </a:xfrm>
          <a:prstGeom prst="line">
            <a:avLst/>
          </a:prstGeom>
          <a:noFill/>
          <a:ln w="19050">
            <a:solidFill>
              <a:srgbClr val="9E8047"/>
            </a:solidFill>
            <a:prstDash val="solid"/>
            <a:tailEnd type="triangle"/>
          </a:ln>
        </p:spPr>
      </p:sp>
      <p:sp>
        <p:nvSpPr>
          <p:cNvPr id="38" name="Shape 35"/>
          <p:cNvSpPr/>
          <p:nvPr/>
        </p:nvSpPr>
        <p:spPr>
          <a:xfrm>
            <a:off x="6286500" y="3342132"/>
            <a:ext cx="365760" cy="36576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39" name="Text 36"/>
          <p:cNvSpPr/>
          <p:nvPr/>
        </p:nvSpPr>
        <p:spPr>
          <a:xfrm>
            <a:off x="6286500" y="334213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200" dirty="0"/>
          </a:p>
        </p:txBody>
      </p:sp>
      <p:sp>
        <p:nvSpPr>
          <p:cNvPr id="40" name="Text 37"/>
          <p:cNvSpPr/>
          <p:nvPr/>
        </p:nvSpPr>
        <p:spPr>
          <a:xfrm>
            <a:off x="6012180" y="3726180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Notion</a:t>
            </a:r>
            <a:endParaRPr lang="en-US" sz="800" dirty="0"/>
          </a:p>
        </p:txBody>
      </p:sp>
      <p:sp>
        <p:nvSpPr>
          <p:cNvPr id="41" name="Shape 38"/>
          <p:cNvSpPr/>
          <p:nvPr/>
        </p:nvSpPr>
        <p:spPr>
          <a:xfrm>
            <a:off x="6688836" y="3525012"/>
            <a:ext cx="1161288" cy="0"/>
          </a:xfrm>
          <a:prstGeom prst="line">
            <a:avLst/>
          </a:prstGeom>
          <a:noFill/>
          <a:ln w="19050">
            <a:solidFill>
              <a:srgbClr val="9E8047"/>
            </a:solidFill>
            <a:prstDash val="solid"/>
            <a:tailEnd type="triangle"/>
          </a:ln>
        </p:spPr>
      </p:sp>
      <p:sp>
        <p:nvSpPr>
          <p:cNvPr id="42" name="Shape 39"/>
          <p:cNvSpPr/>
          <p:nvPr/>
        </p:nvSpPr>
        <p:spPr>
          <a:xfrm>
            <a:off x="7886700" y="3342132"/>
            <a:ext cx="365760" cy="365760"/>
          </a:xfrm>
          <a:prstGeom prst="ellipse">
            <a:avLst/>
          </a:prstGeom>
          <a:solidFill>
            <a:srgbClr val="9E8047"/>
          </a:solidFill>
          <a:ln/>
        </p:spPr>
      </p:sp>
      <p:sp>
        <p:nvSpPr>
          <p:cNvPr id="43" name="Text 40"/>
          <p:cNvSpPr/>
          <p:nvPr/>
        </p:nvSpPr>
        <p:spPr>
          <a:xfrm>
            <a:off x="7886700" y="334213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200" dirty="0"/>
          </a:p>
        </p:txBody>
      </p:sp>
      <p:sp>
        <p:nvSpPr>
          <p:cNvPr id="44" name="Text 41"/>
          <p:cNvSpPr/>
          <p:nvPr/>
        </p:nvSpPr>
        <p:spPr>
          <a:xfrm>
            <a:off x="7612380" y="3726180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</a:t>
            </a:r>
            <a:endParaRPr lang="en-US" sz="800" dirty="0"/>
          </a:p>
        </p:txBody>
      </p:sp>
      <p:sp>
        <p:nvSpPr>
          <p:cNvPr id="45" name="Shape 42"/>
          <p:cNvSpPr/>
          <p:nvPr/>
        </p:nvSpPr>
        <p:spPr>
          <a:xfrm>
            <a:off x="9811512" y="3364992"/>
            <a:ext cx="1554480" cy="32004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12700">
            <a:solidFill>
              <a:srgbClr val="C6A96B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9811512" y="3410712"/>
            <a:ext cx="1554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spc="200" kern="0" dirty="0">
                <a:solidFill>
                  <a:srgbClr val="9E8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700" dirty="0"/>
          </a:p>
        </p:txBody>
      </p:sp>
      <p:sp>
        <p:nvSpPr>
          <p:cNvPr id="47" name="Text 44"/>
          <p:cNvSpPr/>
          <p:nvPr/>
        </p:nvSpPr>
        <p:spPr>
          <a:xfrm>
            <a:off x="9857232" y="3566160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93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posted: true</a:t>
            </a:r>
            <a:endParaRPr lang="en-US" sz="1000" dirty="0"/>
          </a:p>
        </p:txBody>
      </p:sp>
      <p:sp>
        <p:nvSpPr>
          <p:cNvPr id="48" name="Shape 45"/>
          <p:cNvSpPr/>
          <p:nvPr/>
        </p:nvSpPr>
        <p:spPr>
          <a:xfrm>
            <a:off x="640080" y="3941064"/>
            <a:ext cx="10908792" cy="685800"/>
          </a:xfrm>
          <a:prstGeom prst="roundRect">
            <a:avLst>
              <a:gd name="adj" fmla="val 10667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914400" y="4105656"/>
            <a:ext cx="1280160" cy="356616"/>
          </a:xfrm>
          <a:prstGeom prst="roundRect">
            <a:avLst>
              <a:gd name="adj" fmla="val 15385"/>
            </a:avLst>
          </a:prstGeom>
          <a:solidFill>
            <a:srgbClr val="0A1931"/>
          </a:solidFill>
          <a:ln/>
        </p:spPr>
      </p:sp>
      <p:sp>
        <p:nvSpPr>
          <p:cNvPr id="50" name="Text 47"/>
          <p:cNvSpPr/>
          <p:nvPr/>
        </p:nvSpPr>
        <p:spPr>
          <a:xfrm>
            <a:off x="914400" y="4105656"/>
            <a:ext cx="128016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</a:t>
            </a:r>
            <a:endParaRPr lang="en-US" sz="1100" dirty="0"/>
          </a:p>
        </p:txBody>
      </p:sp>
      <p:sp>
        <p:nvSpPr>
          <p:cNvPr id="51" name="Shape 48"/>
          <p:cNvSpPr/>
          <p:nvPr/>
        </p:nvSpPr>
        <p:spPr>
          <a:xfrm>
            <a:off x="3352800" y="4101084"/>
            <a:ext cx="365760" cy="365760"/>
          </a:xfrm>
          <a:prstGeom prst="ellipse">
            <a:avLst/>
          </a:prstGeom>
          <a:solidFill>
            <a:srgbClr val="0A1931"/>
          </a:solidFill>
          <a:ln/>
        </p:spPr>
      </p:sp>
      <p:sp>
        <p:nvSpPr>
          <p:cNvPr id="52" name="Text 49"/>
          <p:cNvSpPr/>
          <p:nvPr/>
        </p:nvSpPr>
        <p:spPr>
          <a:xfrm>
            <a:off x="3352800" y="410108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200" dirty="0"/>
          </a:p>
        </p:txBody>
      </p:sp>
      <p:sp>
        <p:nvSpPr>
          <p:cNvPr id="53" name="Text 50"/>
          <p:cNvSpPr/>
          <p:nvPr/>
        </p:nvSpPr>
        <p:spPr>
          <a:xfrm>
            <a:off x="3078480" y="4485132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800" dirty="0"/>
          </a:p>
        </p:txBody>
      </p:sp>
      <p:sp>
        <p:nvSpPr>
          <p:cNvPr id="54" name="Shape 51"/>
          <p:cNvSpPr/>
          <p:nvPr/>
        </p:nvSpPr>
        <p:spPr>
          <a:xfrm>
            <a:off x="3755136" y="4283964"/>
            <a:ext cx="1694688" cy="0"/>
          </a:xfrm>
          <a:prstGeom prst="line">
            <a:avLst/>
          </a:prstGeom>
          <a:noFill/>
          <a:ln w="19050">
            <a:solidFill>
              <a:srgbClr val="8A95A8"/>
            </a:solidFill>
            <a:prstDash val="solid"/>
            <a:tailEnd type="triangle"/>
          </a:ln>
        </p:spPr>
      </p:sp>
      <p:sp>
        <p:nvSpPr>
          <p:cNvPr id="55" name="Shape 52"/>
          <p:cNvSpPr/>
          <p:nvPr/>
        </p:nvSpPr>
        <p:spPr>
          <a:xfrm>
            <a:off x="5486400" y="4101084"/>
            <a:ext cx="365760" cy="365760"/>
          </a:xfrm>
          <a:prstGeom prst="ellipse">
            <a:avLst/>
          </a:prstGeom>
          <a:solidFill>
            <a:srgbClr val="9E8047"/>
          </a:solidFill>
          <a:ln/>
        </p:spPr>
      </p:sp>
      <p:sp>
        <p:nvSpPr>
          <p:cNvPr id="56" name="Text 53"/>
          <p:cNvSpPr/>
          <p:nvPr/>
        </p:nvSpPr>
        <p:spPr>
          <a:xfrm>
            <a:off x="5486400" y="410108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200" dirty="0"/>
          </a:p>
        </p:txBody>
      </p:sp>
      <p:sp>
        <p:nvSpPr>
          <p:cNvPr id="57" name="Text 54"/>
          <p:cNvSpPr/>
          <p:nvPr/>
        </p:nvSpPr>
        <p:spPr>
          <a:xfrm>
            <a:off x="5212080" y="4485132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</a:t>
            </a:r>
            <a:endParaRPr lang="en-US" sz="800" dirty="0"/>
          </a:p>
        </p:txBody>
      </p:sp>
      <p:sp>
        <p:nvSpPr>
          <p:cNvPr id="58" name="Shape 55"/>
          <p:cNvSpPr/>
          <p:nvPr/>
        </p:nvSpPr>
        <p:spPr>
          <a:xfrm>
            <a:off x="5888736" y="4283964"/>
            <a:ext cx="1694688" cy="0"/>
          </a:xfrm>
          <a:prstGeom prst="line">
            <a:avLst/>
          </a:prstGeom>
          <a:noFill/>
          <a:ln w="19050">
            <a:solidFill>
              <a:srgbClr val="8A95A8"/>
            </a:solidFill>
            <a:prstDash val="solid"/>
            <a:tailEnd type="triangle"/>
          </a:ln>
        </p:spPr>
      </p:sp>
      <p:sp>
        <p:nvSpPr>
          <p:cNvPr id="59" name="Shape 56"/>
          <p:cNvSpPr/>
          <p:nvPr/>
        </p:nvSpPr>
        <p:spPr>
          <a:xfrm>
            <a:off x="7620000" y="4101084"/>
            <a:ext cx="365760" cy="365760"/>
          </a:xfrm>
          <a:prstGeom prst="ellipse">
            <a:avLst/>
          </a:prstGeom>
          <a:solidFill>
            <a:srgbClr val="B85450"/>
          </a:solidFill>
          <a:ln/>
        </p:spPr>
      </p:sp>
      <p:sp>
        <p:nvSpPr>
          <p:cNvPr id="60" name="Text 57"/>
          <p:cNvSpPr/>
          <p:nvPr/>
        </p:nvSpPr>
        <p:spPr>
          <a:xfrm>
            <a:off x="7620000" y="410108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200" dirty="0"/>
          </a:p>
        </p:txBody>
      </p:sp>
      <p:sp>
        <p:nvSpPr>
          <p:cNvPr id="61" name="Text 58"/>
          <p:cNvSpPr/>
          <p:nvPr/>
        </p:nvSpPr>
        <p:spPr>
          <a:xfrm>
            <a:off x="7345680" y="4485132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Gmail</a:t>
            </a:r>
            <a:endParaRPr lang="en-US" sz="800" dirty="0"/>
          </a:p>
        </p:txBody>
      </p:sp>
      <p:sp>
        <p:nvSpPr>
          <p:cNvPr id="62" name="Shape 59"/>
          <p:cNvSpPr/>
          <p:nvPr/>
        </p:nvSpPr>
        <p:spPr>
          <a:xfrm>
            <a:off x="9811512" y="4123944"/>
            <a:ext cx="1554480" cy="32004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3" name="Text 60"/>
          <p:cNvSpPr/>
          <p:nvPr/>
        </p:nvSpPr>
        <p:spPr>
          <a:xfrm>
            <a:off x="9811512" y="4169664"/>
            <a:ext cx="1554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spc="200" kern="0" dirty="0">
                <a:solidFill>
                  <a:srgbClr val="9E8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700" dirty="0"/>
          </a:p>
        </p:txBody>
      </p:sp>
      <p:sp>
        <p:nvSpPr>
          <p:cNvPr id="64" name="Text 61"/>
          <p:cNvSpPr/>
          <p:nvPr/>
        </p:nvSpPr>
        <p:spPr>
          <a:xfrm>
            <a:off x="9857232" y="4325112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93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deployed</a:t>
            </a:r>
            <a:endParaRPr lang="en-US" sz="1000" dirty="0"/>
          </a:p>
        </p:txBody>
      </p:sp>
      <p:sp>
        <p:nvSpPr>
          <p:cNvPr id="65" name="Shape 62"/>
          <p:cNvSpPr/>
          <p:nvPr/>
        </p:nvSpPr>
        <p:spPr>
          <a:xfrm>
            <a:off x="640080" y="4700016"/>
            <a:ext cx="10908792" cy="685800"/>
          </a:xfrm>
          <a:prstGeom prst="roundRect">
            <a:avLst>
              <a:gd name="adj" fmla="val 10667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6" name="Shape 63"/>
          <p:cNvSpPr/>
          <p:nvPr/>
        </p:nvSpPr>
        <p:spPr>
          <a:xfrm>
            <a:off x="914400" y="4864608"/>
            <a:ext cx="1280160" cy="356616"/>
          </a:xfrm>
          <a:prstGeom prst="roundRect">
            <a:avLst>
              <a:gd name="adj" fmla="val 15385"/>
            </a:avLst>
          </a:prstGeom>
          <a:solidFill>
            <a:srgbClr val="0A1931"/>
          </a:solidFill>
          <a:ln/>
        </p:spPr>
      </p:sp>
      <p:sp>
        <p:nvSpPr>
          <p:cNvPr id="67" name="Text 64"/>
          <p:cNvSpPr/>
          <p:nvPr/>
        </p:nvSpPr>
        <p:spPr>
          <a:xfrm>
            <a:off x="914400" y="4864608"/>
            <a:ext cx="128016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</a:t>
            </a:r>
            <a:endParaRPr lang="en-US" sz="1100" dirty="0"/>
          </a:p>
        </p:txBody>
      </p:sp>
      <p:sp>
        <p:nvSpPr>
          <p:cNvPr id="68" name="Shape 65"/>
          <p:cNvSpPr/>
          <p:nvPr/>
        </p:nvSpPr>
        <p:spPr>
          <a:xfrm>
            <a:off x="3352800" y="4860036"/>
            <a:ext cx="365760" cy="365760"/>
          </a:xfrm>
          <a:prstGeom prst="ellipse">
            <a:avLst/>
          </a:prstGeom>
          <a:solidFill>
            <a:srgbClr val="0A1931"/>
          </a:solidFill>
          <a:ln/>
        </p:spPr>
      </p:sp>
      <p:sp>
        <p:nvSpPr>
          <p:cNvPr id="69" name="Text 66"/>
          <p:cNvSpPr/>
          <p:nvPr/>
        </p:nvSpPr>
        <p:spPr>
          <a:xfrm>
            <a:off x="3352800" y="486003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200" dirty="0"/>
          </a:p>
        </p:txBody>
      </p:sp>
      <p:sp>
        <p:nvSpPr>
          <p:cNvPr id="70" name="Text 67"/>
          <p:cNvSpPr/>
          <p:nvPr/>
        </p:nvSpPr>
        <p:spPr>
          <a:xfrm>
            <a:off x="3078480" y="524408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800" dirty="0"/>
          </a:p>
        </p:txBody>
      </p:sp>
      <p:sp>
        <p:nvSpPr>
          <p:cNvPr id="71" name="Shape 68"/>
          <p:cNvSpPr/>
          <p:nvPr/>
        </p:nvSpPr>
        <p:spPr>
          <a:xfrm>
            <a:off x="3755136" y="5042916"/>
            <a:ext cx="1694688" cy="0"/>
          </a:xfrm>
          <a:prstGeom prst="line">
            <a:avLst/>
          </a:prstGeom>
          <a:noFill/>
          <a:ln w="19050">
            <a:solidFill>
              <a:srgbClr val="8A95A8"/>
            </a:solidFill>
            <a:prstDash val="solid"/>
            <a:tailEnd type="triangle"/>
          </a:ln>
        </p:spPr>
      </p:sp>
      <p:sp>
        <p:nvSpPr>
          <p:cNvPr id="72" name="Shape 69"/>
          <p:cNvSpPr/>
          <p:nvPr/>
        </p:nvSpPr>
        <p:spPr>
          <a:xfrm>
            <a:off x="5486400" y="4860036"/>
            <a:ext cx="365760" cy="36576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73" name="Text 70"/>
          <p:cNvSpPr/>
          <p:nvPr/>
        </p:nvSpPr>
        <p:spPr>
          <a:xfrm>
            <a:off x="5486400" y="486003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200" dirty="0"/>
          </a:p>
        </p:txBody>
      </p:sp>
      <p:sp>
        <p:nvSpPr>
          <p:cNvPr id="74" name="Text 71"/>
          <p:cNvSpPr/>
          <p:nvPr/>
        </p:nvSpPr>
        <p:spPr>
          <a:xfrm>
            <a:off x="5212080" y="524408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Notion</a:t>
            </a:r>
            <a:endParaRPr lang="en-US" sz="800" dirty="0"/>
          </a:p>
        </p:txBody>
      </p:sp>
      <p:sp>
        <p:nvSpPr>
          <p:cNvPr id="75" name="Shape 72"/>
          <p:cNvSpPr/>
          <p:nvPr/>
        </p:nvSpPr>
        <p:spPr>
          <a:xfrm>
            <a:off x="5888736" y="5042916"/>
            <a:ext cx="1694688" cy="0"/>
          </a:xfrm>
          <a:prstGeom prst="line">
            <a:avLst/>
          </a:prstGeom>
          <a:noFill/>
          <a:ln w="19050">
            <a:solidFill>
              <a:srgbClr val="8A95A8"/>
            </a:solidFill>
            <a:prstDash val="solid"/>
            <a:tailEnd type="triangle"/>
          </a:ln>
        </p:spPr>
      </p:sp>
      <p:sp>
        <p:nvSpPr>
          <p:cNvPr id="76" name="Shape 73"/>
          <p:cNvSpPr/>
          <p:nvPr/>
        </p:nvSpPr>
        <p:spPr>
          <a:xfrm>
            <a:off x="7620000" y="4860036"/>
            <a:ext cx="365760" cy="365760"/>
          </a:xfrm>
          <a:prstGeom prst="ellipse">
            <a:avLst/>
          </a:prstGeom>
          <a:solidFill>
            <a:srgbClr val="B85450"/>
          </a:solidFill>
          <a:ln/>
        </p:spPr>
      </p:sp>
      <p:sp>
        <p:nvSpPr>
          <p:cNvPr id="77" name="Text 74"/>
          <p:cNvSpPr/>
          <p:nvPr/>
        </p:nvSpPr>
        <p:spPr>
          <a:xfrm>
            <a:off x="7620000" y="486003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200" dirty="0"/>
          </a:p>
        </p:txBody>
      </p:sp>
      <p:sp>
        <p:nvSpPr>
          <p:cNvPr id="78" name="Text 75"/>
          <p:cNvSpPr/>
          <p:nvPr/>
        </p:nvSpPr>
        <p:spPr>
          <a:xfrm>
            <a:off x="7345680" y="524408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Gmail</a:t>
            </a:r>
            <a:endParaRPr lang="en-US" sz="800" dirty="0"/>
          </a:p>
        </p:txBody>
      </p:sp>
      <p:sp>
        <p:nvSpPr>
          <p:cNvPr id="79" name="Shape 76"/>
          <p:cNvSpPr/>
          <p:nvPr/>
        </p:nvSpPr>
        <p:spPr>
          <a:xfrm>
            <a:off x="9811512" y="4882896"/>
            <a:ext cx="1554480" cy="32004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0" name="Text 77"/>
          <p:cNvSpPr/>
          <p:nvPr/>
        </p:nvSpPr>
        <p:spPr>
          <a:xfrm>
            <a:off x="9811512" y="4928616"/>
            <a:ext cx="1554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spc="200" kern="0" dirty="0">
                <a:solidFill>
                  <a:srgbClr val="9E8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700" dirty="0"/>
          </a:p>
        </p:txBody>
      </p:sp>
      <p:sp>
        <p:nvSpPr>
          <p:cNvPr id="81" name="Text 78"/>
          <p:cNvSpPr/>
          <p:nvPr/>
        </p:nvSpPr>
        <p:spPr>
          <a:xfrm>
            <a:off x="9857232" y="5084064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93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 ready</a:t>
            </a:r>
            <a:endParaRPr lang="en-US" sz="1000" dirty="0"/>
          </a:p>
        </p:txBody>
      </p:sp>
      <p:sp>
        <p:nvSpPr>
          <p:cNvPr id="82" name="Shape 79"/>
          <p:cNvSpPr/>
          <p:nvPr/>
        </p:nvSpPr>
        <p:spPr>
          <a:xfrm>
            <a:off x="640080" y="5458968"/>
            <a:ext cx="10908792" cy="685800"/>
          </a:xfrm>
          <a:prstGeom prst="roundRect">
            <a:avLst>
              <a:gd name="adj" fmla="val 10667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3" name="Shape 80"/>
          <p:cNvSpPr/>
          <p:nvPr/>
        </p:nvSpPr>
        <p:spPr>
          <a:xfrm>
            <a:off x="914400" y="5623560"/>
            <a:ext cx="1280160" cy="356616"/>
          </a:xfrm>
          <a:prstGeom prst="roundRect">
            <a:avLst>
              <a:gd name="adj" fmla="val 15385"/>
            </a:avLst>
          </a:prstGeom>
          <a:solidFill>
            <a:srgbClr val="0A1931"/>
          </a:solidFill>
          <a:ln/>
        </p:spPr>
      </p:sp>
      <p:sp>
        <p:nvSpPr>
          <p:cNvPr id="84" name="Text 81"/>
          <p:cNvSpPr/>
          <p:nvPr/>
        </p:nvSpPr>
        <p:spPr>
          <a:xfrm>
            <a:off x="914400" y="5623560"/>
            <a:ext cx="128016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</a:t>
            </a:r>
            <a:endParaRPr lang="en-US" sz="1100" dirty="0"/>
          </a:p>
        </p:txBody>
      </p:sp>
      <p:sp>
        <p:nvSpPr>
          <p:cNvPr id="85" name="Shape 82"/>
          <p:cNvSpPr/>
          <p:nvPr/>
        </p:nvSpPr>
        <p:spPr>
          <a:xfrm>
            <a:off x="3352800" y="5618988"/>
            <a:ext cx="365760" cy="36576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86" name="Text 83"/>
          <p:cNvSpPr/>
          <p:nvPr/>
        </p:nvSpPr>
        <p:spPr>
          <a:xfrm>
            <a:off x="3352800" y="561898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200" dirty="0"/>
          </a:p>
        </p:txBody>
      </p:sp>
      <p:sp>
        <p:nvSpPr>
          <p:cNvPr id="87" name="Text 84"/>
          <p:cNvSpPr/>
          <p:nvPr/>
        </p:nvSpPr>
        <p:spPr>
          <a:xfrm>
            <a:off x="3078480" y="6003036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Sheets</a:t>
            </a:r>
            <a:endParaRPr lang="en-US" sz="800" dirty="0"/>
          </a:p>
        </p:txBody>
      </p:sp>
      <p:sp>
        <p:nvSpPr>
          <p:cNvPr id="88" name="Shape 85"/>
          <p:cNvSpPr/>
          <p:nvPr/>
        </p:nvSpPr>
        <p:spPr>
          <a:xfrm>
            <a:off x="3755136" y="5801868"/>
            <a:ext cx="1694688" cy="0"/>
          </a:xfrm>
          <a:prstGeom prst="line">
            <a:avLst/>
          </a:prstGeom>
          <a:noFill/>
          <a:ln w="19050">
            <a:solidFill>
              <a:srgbClr val="8A95A8"/>
            </a:solidFill>
            <a:prstDash val="solid"/>
            <a:tailEnd type="triangle"/>
          </a:ln>
        </p:spPr>
      </p:sp>
      <p:sp>
        <p:nvSpPr>
          <p:cNvPr id="89" name="Shape 86"/>
          <p:cNvSpPr/>
          <p:nvPr/>
        </p:nvSpPr>
        <p:spPr>
          <a:xfrm>
            <a:off x="5486400" y="5618988"/>
            <a:ext cx="365760" cy="365760"/>
          </a:xfrm>
          <a:prstGeom prst="ellipse">
            <a:avLst/>
          </a:prstGeom>
          <a:solidFill>
            <a:srgbClr val="B85450"/>
          </a:solidFill>
          <a:ln/>
        </p:spPr>
      </p:sp>
      <p:sp>
        <p:nvSpPr>
          <p:cNvPr id="90" name="Text 87"/>
          <p:cNvSpPr/>
          <p:nvPr/>
        </p:nvSpPr>
        <p:spPr>
          <a:xfrm>
            <a:off x="5486400" y="561898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200" dirty="0"/>
          </a:p>
        </p:txBody>
      </p:sp>
      <p:sp>
        <p:nvSpPr>
          <p:cNvPr id="91" name="Text 88"/>
          <p:cNvSpPr/>
          <p:nvPr/>
        </p:nvSpPr>
        <p:spPr>
          <a:xfrm>
            <a:off x="5212080" y="6003036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Gmail</a:t>
            </a:r>
            <a:endParaRPr lang="en-US" sz="800" dirty="0"/>
          </a:p>
        </p:txBody>
      </p:sp>
      <p:sp>
        <p:nvSpPr>
          <p:cNvPr id="92" name="Shape 89"/>
          <p:cNvSpPr/>
          <p:nvPr/>
        </p:nvSpPr>
        <p:spPr>
          <a:xfrm>
            <a:off x="5888736" y="5801868"/>
            <a:ext cx="1694688" cy="0"/>
          </a:xfrm>
          <a:prstGeom prst="line">
            <a:avLst/>
          </a:prstGeom>
          <a:noFill/>
          <a:ln w="19050">
            <a:solidFill>
              <a:srgbClr val="8A95A8"/>
            </a:solidFill>
            <a:prstDash val="solid"/>
            <a:tailEnd type="triangle"/>
          </a:ln>
        </p:spPr>
      </p:sp>
      <p:sp>
        <p:nvSpPr>
          <p:cNvPr id="93" name="Shape 90"/>
          <p:cNvSpPr/>
          <p:nvPr/>
        </p:nvSpPr>
        <p:spPr>
          <a:xfrm>
            <a:off x="7620000" y="5618988"/>
            <a:ext cx="365760" cy="36576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94" name="Text 91"/>
          <p:cNvSpPr/>
          <p:nvPr/>
        </p:nvSpPr>
        <p:spPr>
          <a:xfrm>
            <a:off x="7620000" y="561898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200" dirty="0"/>
          </a:p>
        </p:txBody>
      </p:sp>
      <p:sp>
        <p:nvSpPr>
          <p:cNvPr id="95" name="Text 92"/>
          <p:cNvSpPr/>
          <p:nvPr/>
        </p:nvSpPr>
        <p:spPr>
          <a:xfrm>
            <a:off x="7345680" y="6003036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</a:t>
            </a:r>
            <a:endParaRPr lang="en-US" sz="800" dirty="0"/>
          </a:p>
        </p:txBody>
      </p:sp>
      <p:sp>
        <p:nvSpPr>
          <p:cNvPr id="96" name="Shape 93"/>
          <p:cNvSpPr/>
          <p:nvPr/>
        </p:nvSpPr>
        <p:spPr>
          <a:xfrm>
            <a:off x="9811512" y="5641848"/>
            <a:ext cx="1554480" cy="32004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7" name="Text 94"/>
          <p:cNvSpPr/>
          <p:nvPr/>
        </p:nvSpPr>
        <p:spPr>
          <a:xfrm>
            <a:off x="9811512" y="5687568"/>
            <a:ext cx="1554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spc="200" kern="0" dirty="0">
                <a:solidFill>
                  <a:srgbClr val="9E8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700" dirty="0"/>
          </a:p>
        </p:txBody>
      </p:sp>
      <p:sp>
        <p:nvSpPr>
          <p:cNvPr id="98" name="Text 95"/>
          <p:cNvSpPr/>
          <p:nvPr/>
        </p:nvSpPr>
        <p:spPr>
          <a:xfrm>
            <a:off x="9857232" y="5843016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93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sent</a:t>
            </a:r>
            <a:endParaRPr lang="en-US" sz="1000" dirty="0"/>
          </a:p>
        </p:txBody>
      </p:sp>
      <p:sp>
        <p:nvSpPr>
          <p:cNvPr id="99" name="Text 96"/>
          <p:cNvSpPr/>
          <p:nvPr/>
        </p:nvSpPr>
        <p:spPr>
          <a:xfrm>
            <a:off x="64008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AURUM FORGE</a:t>
            </a:r>
            <a:endParaRPr lang="en-US" sz="900" dirty="0"/>
          </a:p>
        </p:txBody>
      </p:sp>
      <p:sp>
        <p:nvSpPr>
          <p:cNvPr id="100" name="Text 97"/>
          <p:cNvSpPr/>
          <p:nvPr/>
        </p:nvSpPr>
        <p:spPr>
          <a:xfrm>
            <a:off x="7891272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400" kern="0" dirty="0">
                <a:solidFill>
                  <a:srgbClr val="8A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OF POSSIBLE 2026</a:t>
            </a:r>
            <a:endParaRPr lang="en-US" sz="900" dirty="0"/>
          </a:p>
        </p:txBody>
      </p:sp>
      <p:sp>
        <p:nvSpPr>
          <p:cNvPr id="101" name="Shape 98"/>
          <p:cNvSpPr/>
          <p:nvPr/>
        </p:nvSpPr>
        <p:spPr>
          <a:xfrm>
            <a:off x="6048756" y="6464808"/>
            <a:ext cx="91440" cy="91440"/>
          </a:xfrm>
          <a:prstGeom prst="ellipse">
            <a:avLst/>
          </a:prstGeom>
          <a:solidFill>
            <a:srgbClr val="C6A96B"/>
          </a:solidFill>
          <a:ln/>
        </p:spPr>
      </p:sp>
      <p:sp>
        <p:nvSpPr>
          <p:cNvPr id="102" name="Text 99"/>
          <p:cNvSpPr/>
          <p:nvPr/>
        </p:nvSpPr>
        <p:spPr>
          <a:xfrm>
            <a:off x="5545836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8A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13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aurum_forge_logo_c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457200"/>
            <a:ext cx="73152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10515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0A19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Proof, Not Pitch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640080" y="169164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Content Chain · YouTube → Browser → Summarize → Notion → Slack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640080" y="2057400"/>
            <a:ext cx="457200" cy="0"/>
          </a:xfrm>
          <a:prstGeom prst="line">
            <a:avLst/>
          </a:prstGeom>
          <a:noFill/>
          <a:ln w="25400">
            <a:solidFill>
              <a:srgbClr val="C6A96B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420063" y="2788920"/>
            <a:ext cx="914400" cy="914400"/>
          </a:xfrm>
          <a:prstGeom prst="ellipse">
            <a:avLst/>
          </a:prstGeom>
          <a:solidFill>
            <a:srgbClr val="3B82F6"/>
          </a:solidFill>
          <a:ln/>
          <a:effectLst>
            <a:outerShdw sx="100000" sy="100000" kx="0" ky="0" algn="bl" rotWithShape="0" blurRad="101600" dist="25400" dir="5400000">
              <a:srgbClr val="0A1931">
                <a:alpha val="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1420063" y="27889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1054303" y="377647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054303" y="3995928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transcript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962863" y="420624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8A95A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3,200 chars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2371039" y="3246120"/>
            <a:ext cx="1121054" cy="0"/>
          </a:xfrm>
          <a:prstGeom prst="line">
            <a:avLst/>
          </a:prstGeom>
          <a:noFill/>
          <a:ln w="25400">
            <a:solidFill>
              <a:srgbClr val="C6A96B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3528670" y="2788920"/>
            <a:ext cx="914400" cy="914400"/>
          </a:xfrm>
          <a:prstGeom prst="ellipse">
            <a:avLst/>
          </a:prstGeom>
          <a:solidFill>
            <a:srgbClr val="10B981"/>
          </a:solidFill>
          <a:ln/>
          <a:effectLst>
            <a:outerShdw sx="100000" sy="100000" kx="0" ky="0" algn="bl" rotWithShape="0" blurRad="101600" dist="25400" dir="5400000">
              <a:srgbClr val="0A1931">
                <a:alpha val="8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3528670" y="27889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3000" dirty="0"/>
          </a:p>
        </p:txBody>
      </p:sp>
      <p:sp>
        <p:nvSpPr>
          <p:cNvPr id="14" name="Text 11"/>
          <p:cNvSpPr/>
          <p:nvPr/>
        </p:nvSpPr>
        <p:spPr>
          <a:xfrm>
            <a:off x="3162910" y="377647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3162910" y="3995928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enrich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3071470" y="420624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8A95A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real fetch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4479646" y="3246120"/>
            <a:ext cx="1121054" cy="0"/>
          </a:xfrm>
          <a:prstGeom prst="line">
            <a:avLst/>
          </a:prstGeom>
          <a:noFill/>
          <a:ln w="25400">
            <a:solidFill>
              <a:srgbClr val="C6A96B"/>
            </a:solidFill>
            <a:prstDash val="solid"/>
            <a:tailEnd type="triangle"/>
          </a:ln>
        </p:spPr>
      </p:sp>
      <p:sp>
        <p:nvSpPr>
          <p:cNvPr id="18" name="Shape 15"/>
          <p:cNvSpPr/>
          <p:nvPr/>
        </p:nvSpPr>
        <p:spPr>
          <a:xfrm>
            <a:off x="5637276" y="2788920"/>
            <a:ext cx="914400" cy="914400"/>
          </a:xfrm>
          <a:prstGeom prst="ellipse">
            <a:avLst/>
          </a:prstGeom>
          <a:solidFill>
            <a:srgbClr val="8B5CF6"/>
          </a:solidFill>
          <a:ln/>
          <a:effectLst>
            <a:outerShdw sx="100000" sy="100000" kx="0" ky="0" algn="bl" rotWithShape="0" blurRad="101600" dist="25400" dir="5400000">
              <a:srgbClr val="0A1931">
                <a:alpha val="8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5637276" y="27889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3000" dirty="0"/>
          </a:p>
        </p:txBody>
      </p:sp>
      <p:sp>
        <p:nvSpPr>
          <p:cNvPr id="20" name="Text 17"/>
          <p:cNvSpPr/>
          <p:nvPr/>
        </p:nvSpPr>
        <p:spPr>
          <a:xfrm>
            <a:off x="5271516" y="377647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Summarize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5271516" y="3995928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B5CF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process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5180076" y="420624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8A95A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GLM 5.3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6588252" y="3246120"/>
            <a:ext cx="1121054" cy="0"/>
          </a:xfrm>
          <a:prstGeom prst="line">
            <a:avLst/>
          </a:prstGeom>
          <a:noFill/>
          <a:ln w="25400">
            <a:solidFill>
              <a:srgbClr val="C6A96B"/>
            </a:solidFill>
            <a:prstDash val="solid"/>
            <a:tailEnd type="triangle"/>
          </a:ln>
        </p:spPr>
      </p:sp>
      <p:sp>
        <p:nvSpPr>
          <p:cNvPr id="24" name="Shape 21"/>
          <p:cNvSpPr/>
          <p:nvPr/>
        </p:nvSpPr>
        <p:spPr>
          <a:xfrm>
            <a:off x="7745882" y="2788920"/>
            <a:ext cx="914400" cy="914400"/>
          </a:xfrm>
          <a:prstGeom prst="ellipse">
            <a:avLst/>
          </a:prstGeom>
          <a:solidFill>
            <a:srgbClr val="9E8047"/>
          </a:solidFill>
          <a:ln/>
          <a:effectLst>
            <a:outerShdw sx="100000" sy="100000" kx="0" ky="0" algn="bl" rotWithShape="0" blurRad="101600" dist="25400" dir="5400000">
              <a:srgbClr val="0A1931">
                <a:alpha val="8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7745882" y="27889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3000" dirty="0"/>
          </a:p>
        </p:txBody>
      </p:sp>
      <p:sp>
        <p:nvSpPr>
          <p:cNvPr id="26" name="Text 23"/>
          <p:cNvSpPr/>
          <p:nvPr/>
        </p:nvSpPr>
        <p:spPr>
          <a:xfrm>
            <a:off x="7380122" y="377647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Notion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7380122" y="3995928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E804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page created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7288682" y="420624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8A95A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notion_url</a:t>
            </a:r>
            <a:endParaRPr lang="en-US" sz="800" dirty="0"/>
          </a:p>
        </p:txBody>
      </p:sp>
      <p:sp>
        <p:nvSpPr>
          <p:cNvPr id="29" name="Shape 26"/>
          <p:cNvSpPr/>
          <p:nvPr/>
        </p:nvSpPr>
        <p:spPr>
          <a:xfrm>
            <a:off x="8696858" y="3246120"/>
            <a:ext cx="1121054" cy="0"/>
          </a:xfrm>
          <a:prstGeom prst="line">
            <a:avLst/>
          </a:prstGeom>
          <a:noFill/>
          <a:ln w="25400">
            <a:solidFill>
              <a:srgbClr val="C6A96B"/>
            </a:solidFill>
            <a:prstDash val="solid"/>
            <a:tailEnd type="triangle"/>
          </a:ln>
        </p:spPr>
      </p:sp>
      <p:sp>
        <p:nvSpPr>
          <p:cNvPr id="30" name="Shape 27"/>
          <p:cNvSpPr/>
          <p:nvPr/>
        </p:nvSpPr>
        <p:spPr>
          <a:xfrm>
            <a:off x="9854489" y="2788920"/>
            <a:ext cx="914400" cy="914400"/>
          </a:xfrm>
          <a:prstGeom prst="ellipse">
            <a:avLst/>
          </a:prstGeom>
          <a:solidFill>
            <a:srgbClr val="C6A96B"/>
          </a:solidFill>
          <a:ln/>
          <a:effectLst>
            <a:outerShdw sx="100000" sy="100000" kx="0" ky="0" algn="bl" rotWithShape="0" blurRad="101600" dist="25400" dir="5400000">
              <a:srgbClr val="0A1931">
                <a:alpha val="8000"/>
              </a:srgbClr>
            </a:outerShdw>
          </a:effectLst>
        </p:spPr>
      </p:sp>
      <p:sp>
        <p:nvSpPr>
          <p:cNvPr id="31" name="Text 28"/>
          <p:cNvSpPr/>
          <p:nvPr/>
        </p:nvSpPr>
        <p:spPr>
          <a:xfrm>
            <a:off x="9854489" y="27889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3000" dirty="0"/>
          </a:p>
        </p:txBody>
      </p:sp>
      <p:sp>
        <p:nvSpPr>
          <p:cNvPr id="32" name="Text 29"/>
          <p:cNvSpPr/>
          <p:nvPr/>
        </p:nvSpPr>
        <p:spPr>
          <a:xfrm>
            <a:off x="9488729" y="377647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9488729" y="3995928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6A96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post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9397289" y="420624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8A95A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posted: true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4453128" y="4800600"/>
            <a:ext cx="4572000" cy="457200"/>
          </a:xfrm>
          <a:prstGeom prst="roundRect">
            <a:avLst>
              <a:gd name="adj" fmla="val 50000"/>
            </a:avLst>
          </a:prstGeom>
          <a:solidFill>
            <a:srgbClr val="C6A96B"/>
          </a:solidFill>
          <a:ln/>
          <a:effectLst>
            <a:outerShdw sx="100000" sy="100000" kx="0" ky="0" algn="bl" rotWithShape="0" blurRad="127000" dist="25400" dir="5400000">
              <a:srgbClr val="9E8047">
                <a:alpha val="12000"/>
              </a:srgbClr>
            </a:outerShdw>
          </a:effectLst>
        </p:spPr>
      </p:sp>
      <p:sp>
        <p:nvSpPr>
          <p:cNvPr id="36" name="Text 33"/>
          <p:cNvSpPr/>
          <p:nvPr/>
        </p:nvSpPr>
        <p:spPr>
          <a:xfrm>
            <a:off x="4453128" y="48006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Manual: </a:t>
            </a:r>
            <a:pPr algn="ctr" indent="0" marL="0">
              <a:buNone/>
            </a:pPr>
            <a:r>
              <a:rPr lang="en-US" sz="1400" b="1" strike="sngStrike" dirty="0">
                <a:solidFill>
                  <a:srgbClr val="0A193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 hrs</a:t>
            </a:r>
            <a:pPr algn="ctr" indent="0" marL="0">
              <a:buNone/>
            </a:pPr>
            <a:r>
              <a:rPr lang="en-US" sz="1200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→    </a:t>
            </a:r>
            <a:pPr algn="ctr" indent="0" marL="0">
              <a:buNone/>
            </a:pPr>
            <a:r>
              <a:rPr lang="en-US" sz="1200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Aurum: </a:t>
            </a:r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2.1s</a:t>
            </a:r>
            <a:endParaRPr lang="en-US" sz="1200" dirty="0"/>
          </a:p>
        </p:txBody>
      </p:sp>
      <p:sp>
        <p:nvSpPr>
          <p:cNvPr id="37" name="Shape 34"/>
          <p:cNvSpPr/>
          <p:nvPr/>
        </p:nvSpPr>
        <p:spPr>
          <a:xfrm>
            <a:off x="763524" y="5577840"/>
            <a:ext cx="2542032" cy="594360"/>
          </a:xfrm>
          <a:prstGeom prst="roundRect">
            <a:avLst>
              <a:gd name="adj" fmla="val 12308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38100" dir="5400000">
              <a:srgbClr val="0A1931">
                <a:alpha val="6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928116" y="5669280"/>
            <a:ext cx="146304" cy="146304"/>
          </a:xfrm>
          <a:prstGeom prst="ellipse">
            <a:avLst/>
          </a:prstGeom>
          <a:solidFill>
            <a:srgbClr val="C6A96B"/>
          </a:solidFill>
          <a:ln/>
        </p:spPr>
      </p:sp>
      <p:sp>
        <p:nvSpPr>
          <p:cNvPr id="39" name="Text 36"/>
          <p:cNvSpPr/>
          <p:nvPr/>
        </p:nvSpPr>
        <p:spPr>
          <a:xfrm>
            <a:off x="1147572" y="5632704"/>
            <a:ext cx="19933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9E8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</a:t>
            </a:r>
            <a:endParaRPr lang="en-US" sz="800" dirty="0"/>
          </a:p>
        </p:txBody>
      </p:sp>
      <p:sp>
        <p:nvSpPr>
          <p:cNvPr id="40" name="Text 37"/>
          <p:cNvSpPr/>
          <p:nvPr/>
        </p:nvSpPr>
        <p:spPr>
          <a:xfrm>
            <a:off x="928116" y="5852160"/>
            <a:ext cx="22128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193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aurum_verified</a:t>
            </a:r>
            <a:endParaRPr lang="en-US" sz="1000" dirty="0"/>
          </a:p>
        </p:txBody>
      </p:sp>
      <p:sp>
        <p:nvSpPr>
          <p:cNvPr id="41" name="Text 38"/>
          <p:cNvSpPr/>
          <p:nvPr/>
        </p:nvSpPr>
        <p:spPr>
          <a:xfrm>
            <a:off x="928116" y="6053328"/>
            <a:ext cx="221284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A95A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12-char</a:t>
            </a:r>
            <a:endParaRPr lang="en-US" sz="800" dirty="0"/>
          </a:p>
        </p:txBody>
      </p:sp>
      <p:sp>
        <p:nvSpPr>
          <p:cNvPr id="42" name="Shape 39"/>
          <p:cNvSpPr/>
          <p:nvPr/>
        </p:nvSpPr>
        <p:spPr>
          <a:xfrm>
            <a:off x="3470148" y="5577840"/>
            <a:ext cx="2542032" cy="594360"/>
          </a:xfrm>
          <a:prstGeom prst="roundRect">
            <a:avLst>
              <a:gd name="adj" fmla="val 12308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38100" dir="5400000">
              <a:srgbClr val="0A1931">
                <a:alpha val="6000"/>
              </a:srgbClr>
            </a:outerShdw>
          </a:effectLst>
        </p:spPr>
      </p:sp>
      <p:sp>
        <p:nvSpPr>
          <p:cNvPr id="43" name="Shape 40"/>
          <p:cNvSpPr/>
          <p:nvPr/>
        </p:nvSpPr>
        <p:spPr>
          <a:xfrm>
            <a:off x="3634740" y="5669280"/>
            <a:ext cx="146304" cy="146304"/>
          </a:xfrm>
          <a:prstGeom prst="ellipse">
            <a:avLst/>
          </a:prstGeom>
          <a:solidFill>
            <a:srgbClr val="C6A96B"/>
          </a:solidFill>
          <a:ln/>
        </p:spPr>
      </p:sp>
      <p:sp>
        <p:nvSpPr>
          <p:cNvPr id="44" name="Text 41"/>
          <p:cNvSpPr/>
          <p:nvPr/>
        </p:nvSpPr>
        <p:spPr>
          <a:xfrm>
            <a:off x="3854196" y="5632704"/>
            <a:ext cx="19933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9E8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SCREENSHOTS</a:t>
            </a:r>
            <a:endParaRPr lang="en-US" sz="800" dirty="0"/>
          </a:p>
        </p:txBody>
      </p:sp>
      <p:sp>
        <p:nvSpPr>
          <p:cNvPr id="45" name="Text 42"/>
          <p:cNvSpPr/>
          <p:nvPr/>
        </p:nvSpPr>
        <p:spPr>
          <a:xfrm>
            <a:off x="3634740" y="5852160"/>
            <a:ext cx="22128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193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base64 encoded</a:t>
            </a:r>
            <a:endParaRPr lang="en-US" sz="1000" dirty="0"/>
          </a:p>
        </p:txBody>
      </p:sp>
      <p:sp>
        <p:nvSpPr>
          <p:cNvPr id="46" name="Text 43"/>
          <p:cNvSpPr/>
          <p:nvPr/>
        </p:nvSpPr>
        <p:spPr>
          <a:xfrm>
            <a:off x="3634740" y="6053328"/>
            <a:ext cx="221284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A95A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PNG</a:t>
            </a:r>
            <a:endParaRPr lang="en-US" sz="800" dirty="0"/>
          </a:p>
        </p:txBody>
      </p:sp>
      <p:sp>
        <p:nvSpPr>
          <p:cNvPr id="47" name="Shape 44"/>
          <p:cNvSpPr/>
          <p:nvPr/>
        </p:nvSpPr>
        <p:spPr>
          <a:xfrm>
            <a:off x="6176772" y="5577840"/>
            <a:ext cx="2542032" cy="594360"/>
          </a:xfrm>
          <a:prstGeom prst="roundRect">
            <a:avLst>
              <a:gd name="adj" fmla="val 12308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38100" dir="5400000">
              <a:srgbClr val="0A1931">
                <a:alpha val="6000"/>
              </a:srgbClr>
            </a:outerShdw>
          </a:effectLst>
        </p:spPr>
      </p:sp>
      <p:sp>
        <p:nvSpPr>
          <p:cNvPr id="48" name="Shape 45"/>
          <p:cNvSpPr/>
          <p:nvPr/>
        </p:nvSpPr>
        <p:spPr>
          <a:xfrm>
            <a:off x="6341364" y="5669280"/>
            <a:ext cx="146304" cy="146304"/>
          </a:xfrm>
          <a:prstGeom prst="ellipse">
            <a:avLst/>
          </a:prstGeom>
          <a:solidFill>
            <a:srgbClr val="C6A96B"/>
          </a:solidFill>
          <a:ln/>
        </p:spPr>
      </p:sp>
      <p:sp>
        <p:nvSpPr>
          <p:cNvPr id="49" name="Text 46"/>
          <p:cNvSpPr/>
          <p:nvPr/>
        </p:nvSpPr>
        <p:spPr>
          <a:xfrm>
            <a:off x="6560820" y="5632704"/>
            <a:ext cx="19933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9E8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</a:t>
            </a:r>
            <a:endParaRPr lang="en-US" sz="800" dirty="0"/>
          </a:p>
        </p:txBody>
      </p:sp>
      <p:sp>
        <p:nvSpPr>
          <p:cNvPr id="50" name="Text 47"/>
          <p:cNvSpPr/>
          <p:nvPr/>
        </p:nvSpPr>
        <p:spPr>
          <a:xfrm>
            <a:off x="6341364" y="5852160"/>
            <a:ext cx="22128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193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 hrs → 2.1s</a:t>
            </a:r>
            <a:endParaRPr lang="en-US" sz="1000" dirty="0"/>
          </a:p>
        </p:txBody>
      </p:sp>
      <p:sp>
        <p:nvSpPr>
          <p:cNvPr id="51" name="Text 48"/>
          <p:cNvSpPr/>
          <p:nvPr/>
        </p:nvSpPr>
        <p:spPr>
          <a:xfrm>
            <a:off x="6341364" y="6053328"/>
            <a:ext cx="221284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A95A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83×</a:t>
            </a:r>
            <a:endParaRPr lang="en-US" sz="800" dirty="0"/>
          </a:p>
        </p:txBody>
      </p:sp>
      <p:sp>
        <p:nvSpPr>
          <p:cNvPr id="52" name="Shape 49"/>
          <p:cNvSpPr/>
          <p:nvPr/>
        </p:nvSpPr>
        <p:spPr>
          <a:xfrm>
            <a:off x="8883396" y="5577840"/>
            <a:ext cx="2542032" cy="594360"/>
          </a:xfrm>
          <a:prstGeom prst="roundRect">
            <a:avLst>
              <a:gd name="adj" fmla="val 12308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38100" dir="5400000">
              <a:srgbClr val="0A1931">
                <a:alpha val="6000"/>
              </a:srgbClr>
            </a:outerShdw>
          </a:effectLst>
        </p:spPr>
      </p:sp>
      <p:sp>
        <p:nvSpPr>
          <p:cNvPr id="53" name="Shape 50"/>
          <p:cNvSpPr/>
          <p:nvPr/>
        </p:nvSpPr>
        <p:spPr>
          <a:xfrm>
            <a:off x="9047988" y="5669280"/>
            <a:ext cx="146304" cy="146304"/>
          </a:xfrm>
          <a:prstGeom prst="ellipse">
            <a:avLst/>
          </a:prstGeom>
          <a:solidFill>
            <a:srgbClr val="C6A96B"/>
          </a:solidFill>
          <a:ln/>
        </p:spPr>
      </p:sp>
      <p:sp>
        <p:nvSpPr>
          <p:cNvPr id="54" name="Text 51"/>
          <p:cNvSpPr/>
          <p:nvPr/>
        </p:nvSpPr>
        <p:spPr>
          <a:xfrm>
            <a:off x="9267444" y="5632704"/>
            <a:ext cx="19933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9E8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POSTED</a:t>
            </a:r>
            <a:endParaRPr lang="en-US" sz="800" dirty="0"/>
          </a:p>
        </p:txBody>
      </p:sp>
      <p:sp>
        <p:nvSpPr>
          <p:cNvPr id="55" name="Text 52"/>
          <p:cNvSpPr/>
          <p:nvPr/>
        </p:nvSpPr>
        <p:spPr>
          <a:xfrm>
            <a:off x="9047988" y="5852160"/>
            <a:ext cx="22128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193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slack #content</a:t>
            </a:r>
            <a:endParaRPr lang="en-US" sz="1000" dirty="0"/>
          </a:p>
        </p:txBody>
      </p:sp>
      <p:sp>
        <p:nvSpPr>
          <p:cNvPr id="56" name="Text 53"/>
          <p:cNvSpPr/>
          <p:nvPr/>
        </p:nvSpPr>
        <p:spPr>
          <a:xfrm>
            <a:off x="9047988" y="6053328"/>
            <a:ext cx="221284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A95A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true</a:t>
            </a:r>
            <a:endParaRPr lang="en-US" sz="800" dirty="0"/>
          </a:p>
        </p:txBody>
      </p:sp>
      <p:sp>
        <p:nvSpPr>
          <p:cNvPr id="57" name="Text 54"/>
          <p:cNvSpPr/>
          <p:nvPr/>
        </p:nvSpPr>
        <p:spPr>
          <a:xfrm>
            <a:off x="0" y="6208776"/>
            <a:ext cx="1218895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spc="400" kern="0" dirty="0">
                <a:solidFill>
                  <a:srgbClr val="8A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 LEDGER  ·  EVIDENCE  NOT  PITCH</a:t>
            </a:r>
            <a:endParaRPr lang="en-US" sz="700" dirty="0"/>
          </a:p>
        </p:txBody>
      </p:sp>
      <p:sp>
        <p:nvSpPr>
          <p:cNvPr id="58" name="Text 55"/>
          <p:cNvSpPr/>
          <p:nvPr/>
        </p:nvSpPr>
        <p:spPr>
          <a:xfrm>
            <a:off x="64008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AURUM FORGE</a:t>
            </a:r>
            <a:endParaRPr lang="en-US" sz="900" dirty="0"/>
          </a:p>
        </p:txBody>
      </p:sp>
      <p:sp>
        <p:nvSpPr>
          <p:cNvPr id="59" name="Text 56"/>
          <p:cNvSpPr/>
          <p:nvPr/>
        </p:nvSpPr>
        <p:spPr>
          <a:xfrm>
            <a:off x="7891272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400" kern="0" dirty="0">
                <a:solidFill>
                  <a:srgbClr val="8A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OF POSSIBLE 2026</a:t>
            </a:r>
            <a:endParaRPr lang="en-US" sz="900" dirty="0"/>
          </a:p>
        </p:txBody>
      </p:sp>
      <p:sp>
        <p:nvSpPr>
          <p:cNvPr id="60" name="Shape 57"/>
          <p:cNvSpPr/>
          <p:nvPr/>
        </p:nvSpPr>
        <p:spPr>
          <a:xfrm>
            <a:off x="6048756" y="6464808"/>
            <a:ext cx="91440" cy="91440"/>
          </a:xfrm>
          <a:prstGeom prst="ellipse">
            <a:avLst/>
          </a:prstGeom>
          <a:solidFill>
            <a:srgbClr val="C6A96B"/>
          </a:solidFill>
          <a:ln/>
        </p:spPr>
      </p:sp>
      <p:sp>
        <p:nvSpPr>
          <p:cNvPr id="61" name="Text 58"/>
          <p:cNvSpPr/>
          <p:nvPr/>
        </p:nvSpPr>
        <p:spPr>
          <a:xfrm>
            <a:off x="5545836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8A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13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aurum_forge_logo_c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457200"/>
            <a:ext cx="73152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10515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0A19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 / 100. Real.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640080" y="16916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· Intelligent · Usability · Responsible — every axis, perfect score.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640080" y="2057400"/>
            <a:ext cx="457200" cy="0"/>
          </a:xfrm>
          <a:prstGeom prst="line">
            <a:avLst/>
          </a:prstGeom>
          <a:noFill/>
          <a:ln w="25400">
            <a:solidFill>
              <a:srgbClr val="C6A96B"/>
            </a:solidFill>
            <a:prstDash val="solid"/>
          </a:ln>
        </p:spPr>
      </p:sp>
      <p:graphicFrame>
        <p:nvGraphicFramePr>
          <p:cNvPr id="6" name="Chart 0" descr=""/>
          <p:cNvGraphicFramePr/>
          <p:nvPr/>
        </p:nvGraphicFramePr>
        <p:xfrm>
          <a:off x="640080" y="2423160"/>
          <a:ext cx="502920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Shape 3"/>
          <p:cNvSpPr/>
          <p:nvPr/>
        </p:nvSpPr>
        <p:spPr>
          <a:xfrm>
            <a:off x="6126480" y="2423160"/>
            <a:ext cx="2697480" cy="1691640"/>
          </a:xfrm>
          <a:prstGeom prst="roundRect">
            <a:avLst>
              <a:gd name="adj" fmla="val 4324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38100" dir="5400000">
              <a:srgbClr val="0A1931">
                <a:alpha val="6000"/>
              </a:srgbClr>
            </a:outerShdw>
          </a:effectLst>
        </p:spPr>
      </p:sp>
      <p:sp>
        <p:nvSpPr>
          <p:cNvPr id="8" name="Shape 4"/>
          <p:cNvSpPr/>
          <p:nvPr/>
        </p:nvSpPr>
        <p:spPr>
          <a:xfrm>
            <a:off x="6327648" y="2624328"/>
            <a:ext cx="146304" cy="146304"/>
          </a:xfrm>
          <a:prstGeom prst="ellipse">
            <a:avLst/>
          </a:prstGeom>
          <a:solidFill>
            <a:srgbClr val="9E8047"/>
          </a:solidFill>
          <a:ln/>
        </p:spPr>
      </p:sp>
      <p:sp>
        <p:nvSpPr>
          <p:cNvPr id="9" name="Text 5"/>
          <p:cNvSpPr/>
          <p:nvPr/>
        </p:nvSpPr>
        <p:spPr>
          <a:xfrm>
            <a:off x="6537960" y="2587752"/>
            <a:ext cx="2148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9E8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6327648" y="283464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9E804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2.1s</a:t>
            </a:r>
            <a:pPr indent="0" marL="0">
              <a:buNone/>
            </a:pPr>
            <a:r>
              <a:rPr lang="en-US" sz="1000" dirty="0">
                <a:solidFill>
                  <a:srgbClr val="8A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vs  </a:t>
            </a:r>
            <a:pPr indent="0" marL="0">
              <a:buNone/>
            </a:pPr>
            <a:r>
              <a:rPr lang="en-US" sz="1800" strike="sngStrike" dirty="0">
                <a:solidFill>
                  <a:srgbClr val="8A95A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175s</a:t>
            </a:r>
            <a:endParaRPr lang="en-US" sz="3000" dirty="0"/>
          </a:p>
        </p:txBody>
      </p:sp>
      <p:sp>
        <p:nvSpPr>
          <p:cNvPr id="11" name="Text 7"/>
          <p:cNvSpPr/>
          <p:nvPr/>
        </p:nvSpPr>
        <p:spPr>
          <a:xfrm>
            <a:off x="6327648" y="3840480"/>
            <a:ext cx="2331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83× faster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8988552" y="2423160"/>
            <a:ext cx="2697480" cy="1691640"/>
          </a:xfrm>
          <a:prstGeom prst="roundRect">
            <a:avLst>
              <a:gd name="adj" fmla="val 4324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38100" dir="5400000">
              <a:srgbClr val="0A1931">
                <a:alpha val="6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9189720" y="2624328"/>
            <a:ext cx="146304" cy="146304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4" name="Text 10"/>
          <p:cNvSpPr/>
          <p:nvPr/>
        </p:nvSpPr>
        <p:spPr>
          <a:xfrm>
            <a:off x="9400032" y="2587752"/>
            <a:ext cx="2148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9E8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9189720" y="283464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0B98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$0</a:t>
            </a:r>
            <a:pPr indent="0" marL="0">
              <a:buNone/>
            </a:pPr>
            <a:r>
              <a:rPr lang="en-US" sz="1000" dirty="0">
                <a:solidFill>
                  <a:srgbClr val="8A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vs  </a:t>
            </a:r>
            <a:pPr indent="0" marL="0">
              <a:buNone/>
            </a:pPr>
            <a:r>
              <a:rPr lang="en-US" sz="1800" strike="sngStrike" dirty="0">
                <a:solidFill>
                  <a:srgbClr val="8A95A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$0.80</a:t>
            </a:r>
            <a:endParaRPr lang="en-US" sz="3000" dirty="0"/>
          </a:p>
        </p:txBody>
      </p:sp>
      <p:sp>
        <p:nvSpPr>
          <p:cNvPr id="16" name="Text 12"/>
          <p:cNvSpPr/>
          <p:nvPr/>
        </p:nvSpPr>
        <p:spPr>
          <a:xfrm>
            <a:off x="9189720" y="3840480"/>
            <a:ext cx="2331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per session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6126480" y="4279392"/>
            <a:ext cx="2697480" cy="1691640"/>
          </a:xfrm>
          <a:prstGeom prst="roundRect">
            <a:avLst>
              <a:gd name="adj" fmla="val 4324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38100" dir="5400000">
              <a:srgbClr val="0A1931">
                <a:alpha val="6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327648" y="4480560"/>
            <a:ext cx="146304" cy="146304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9" name="Text 15"/>
          <p:cNvSpPr/>
          <p:nvPr/>
        </p:nvSpPr>
        <p:spPr>
          <a:xfrm>
            <a:off x="6537960" y="4443984"/>
            <a:ext cx="2148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9E8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6327648" y="4690872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3B82F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</a:t>
            </a:r>
            <a:pPr indent="0" marL="0">
              <a:buNone/>
            </a:pPr>
            <a:r>
              <a:rPr lang="en-US" sz="1000" dirty="0">
                <a:solidFill>
                  <a:srgbClr val="8A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vs  </a:t>
            </a:r>
            <a:pPr indent="0" marL="0">
              <a:buNone/>
            </a:pPr>
            <a:r>
              <a:rPr lang="en-US" sz="1800" strike="sngStrike" dirty="0">
                <a:solidFill>
                  <a:srgbClr val="8A95A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45k</a:t>
            </a:r>
            <a:endParaRPr lang="en-US" sz="3000" dirty="0"/>
          </a:p>
        </p:txBody>
      </p:sp>
      <p:sp>
        <p:nvSpPr>
          <p:cNvPr id="21" name="Text 17"/>
          <p:cNvSpPr/>
          <p:nvPr/>
        </p:nvSpPr>
        <p:spPr>
          <a:xfrm>
            <a:off x="6327648" y="5696712"/>
            <a:ext cx="2331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zero LLM</a:t>
            </a:r>
            <a:endParaRPr lang="en-US" sz="900" dirty="0"/>
          </a:p>
        </p:txBody>
      </p:sp>
      <p:sp>
        <p:nvSpPr>
          <p:cNvPr id="22" name="Shape 18"/>
          <p:cNvSpPr/>
          <p:nvPr/>
        </p:nvSpPr>
        <p:spPr>
          <a:xfrm>
            <a:off x="8988552" y="4279392"/>
            <a:ext cx="2697480" cy="1691640"/>
          </a:xfrm>
          <a:prstGeom prst="roundRect">
            <a:avLst>
              <a:gd name="adj" fmla="val 4324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38100" dir="5400000">
              <a:srgbClr val="0A1931">
                <a:alpha val="6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9189720" y="4480560"/>
            <a:ext cx="146304" cy="146304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24" name="Text 20"/>
          <p:cNvSpPr/>
          <p:nvPr/>
        </p:nvSpPr>
        <p:spPr>
          <a:xfrm>
            <a:off x="9400032" y="4443984"/>
            <a:ext cx="2148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9E8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</a:t>
            </a:r>
            <a:endParaRPr lang="en-US" sz="900" dirty="0"/>
          </a:p>
        </p:txBody>
      </p:sp>
      <p:sp>
        <p:nvSpPr>
          <p:cNvPr id="25" name="Text 21"/>
          <p:cNvSpPr/>
          <p:nvPr/>
        </p:nvSpPr>
        <p:spPr>
          <a:xfrm>
            <a:off x="9189720" y="4690872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8B5CF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12</a:t>
            </a:r>
            <a:pPr indent="0" marL="0">
              <a:buNone/>
            </a:pPr>
            <a:r>
              <a:rPr lang="en-US" sz="1000" dirty="0">
                <a:solidFill>
                  <a:srgbClr val="8A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pPr indent="0" marL="0">
              <a:buNone/>
            </a:pPr>
            <a:r>
              <a:rPr lang="en-US" sz="1800" dirty="0">
                <a:solidFill>
                  <a:srgbClr val="8A95A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—</a:t>
            </a:r>
            <a:endParaRPr lang="en-US" sz="3000" dirty="0"/>
          </a:p>
        </p:txBody>
      </p:sp>
      <p:sp>
        <p:nvSpPr>
          <p:cNvPr id="26" name="Text 22"/>
          <p:cNvSpPr/>
          <p:nvPr/>
        </p:nvSpPr>
        <p:spPr>
          <a:xfrm>
            <a:off x="9189720" y="5696712"/>
            <a:ext cx="2331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aurum_verified</a:t>
            </a:r>
            <a:endParaRPr lang="en-US" sz="900" dirty="0"/>
          </a:p>
        </p:txBody>
      </p:sp>
      <p:sp>
        <p:nvSpPr>
          <p:cNvPr id="27" name="Shape 23"/>
          <p:cNvSpPr/>
          <p:nvPr/>
        </p:nvSpPr>
        <p:spPr>
          <a:xfrm>
            <a:off x="640080" y="5989320"/>
            <a:ext cx="10908792" cy="384048"/>
          </a:xfrm>
          <a:prstGeom prst="roundRect">
            <a:avLst>
              <a:gd name="adj" fmla="val 47619"/>
            </a:avLst>
          </a:prstGeom>
          <a:solidFill>
            <a:srgbClr val="0A1931"/>
          </a:solidFill>
          <a:ln/>
        </p:spPr>
      </p:sp>
      <p:sp>
        <p:nvSpPr>
          <p:cNvPr id="28" name="Text 24"/>
          <p:cNvSpPr/>
          <p:nvPr/>
        </p:nvSpPr>
        <p:spPr>
          <a:xfrm>
            <a:off x="640080" y="5989320"/>
            <a:ext cx="109087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C6A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 TOKENS    ·    $0  RUNTIME    ·    83×  FASTER    ·    aurum_verified  12-CHAR  HASH</a:t>
            </a:r>
            <a:endParaRPr lang="en-US" sz="1000" dirty="0"/>
          </a:p>
        </p:txBody>
      </p:sp>
      <p:sp>
        <p:nvSpPr>
          <p:cNvPr id="29" name="Text 25"/>
          <p:cNvSpPr/>
          <p:nvPr/>
        </p:nvSpPr>
        <p:spPr>
          <a:xfrm>
            <a:off x="64008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AURUM FORGE</a:t>
            </a:r>
            <a:endParaRPr lang="en-US" sz="900" dirty="0"/>
          </a:p>
        </p:txBody>
      </p:sp>
      <p:sp>
        <p:nvSpPr>
          <p:cNvPr id="30" name="Text 26"/>
          <p:cNvSpPr/>
          <p:nvPr/>
        </p:nvSpPr>
        <p:spPr>
          <a:xfrm>
            <a:off x="7891272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400" kern="0" dirty="0">
                <a:solidFill>
                  <a:srgbClr val="8A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OF POSSIBLE 2026</a:t>
            </a:r>
            <a:endParaRPr lang="en-US" sz="900" dirty="0"/>
          </a:p>
        </p:txBody>
      </p:sp>
      <p:sp>
        <p:nvSpPr>
          <p:cNvPr id="31" name="Shape 27"/>
          <p:cNvSpPr/>
          <p:nvPr/>
        </p:nvSpPr>
        <p:spPr>
          <a:xfrm>
            <a:off x="6048756" y="6464808"/>
            <a:ext cx="91440" cy="91440"/>
          </a:xfrm>
          <a:prstGeom prst="ellipse">
            <a:avLst/>
          </a:prstGeom>
          <a:solidFill>
            <a:srgbClr val="C6A96B"/>
          </a:solidFill>
          <a:ln/>
        </p:spPr>
      </p:sp>
      <p:sp>
        <p:nvSpPr>
          <p:cNvPr id="32" name="Text 28"/>
          <p:cNvSpPr/>
          <p:nvPr/>
        </p:nvSpPr>
        <p:spPr>
          <a:xfrm>
            <a:off x="5545836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8A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13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aurum_forge_logo_c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457200"/>
            <a:ext cx="73152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10515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0A19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Verifiable Trust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640080" y="16916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pillars: gold vault, time-travel hash, screenshot ledger.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640080" y="2057400"/>
            <a:ext cx="457200" cy="0"/>
          </a:xfrm>
          <a:prstGeom prst="line">
            <a:avLst/>
          </a:prstGeom>
          <a:noFill/>
          <a:ln w="25400">
            <a:solidFill>
              <a:srgbClr val="C6A96B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81228" y="2468880"/>
            <a:ext cx="3456432" cy="3474720"/>
          </a:xfrm>
          <a:prstGeom prst="roundRect">
            <a:avLst>
              <a:gd name="adj" fmla="val 2646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38100" dir="5400000">
              <a:srgbClr val="0A1931">
                <a:alpha val="6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955548" y="2697480"/>
            <a:ext cx="29077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9E8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VAULT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955548" y="2971800"/>
            <a:ext cx="2907792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0A193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100/100</a:t>
            </a:r>
            <a:endParaRPr lang="en-US" sz="3800" dirty="0"/>
          </a:p>
        </p:txBody>
      </p:sp>
      <p:sp>
        <p:nvSpPr>
          <p:cNvPr id="9" name="Text 6"/>
          <p:cNvSpPr/>
          <p:nvPr/>
        </p:nvSpPr>
        <p:spPr>
          <a:xfrm>
            <a:off x="955548" y="3657600"/>
            <a:ext cx="29077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score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955548" y="4023360"/>
            <a:ext cx="365760" cy="0"/>
          </a:xfrm>
          <a:prstGeom prst="line">
            <a:avLst/>
          </a:prstGeom>
          <a:noFill/>
          <a:ln w="19050">
            <a:solidFill>
              <a:srgbClr val="9E804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55548" y="4160520"/>
            <a:ext cx="2907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Vault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955548" y="4526280"/>
            <a:ext cx="2907792" cy="12801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500"/>
              </a:spcAft>
              <a:buNone/>
            </a:pPr>
            <a:r>
              <a:rPr lang="en-US" sz="1000" b="1" dirty="0">
                <a:solidFill>
                  <a:srgbClr val="9E8047"/>
                </a:solidFill>
              </a:rPr>
              <a:t>▸ </a:t>
            </a:r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4A5568"/>
                </a:solidFill>
              </a:rPr>
              <a:t>100 / 100 Gold verified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b="1" dirty="0">
                <a:solidFill>
                  <a:srgbClr val="9E8047"/>
                </a:solidFill>
              </a:rPr>
              <a:t>▸ </a:t>
            </a:r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4A5568"/>
                </a:solidFill>
              </a:rPr>
              <a:t>80 Red Blocked hardened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b="1" dirty="0">
                <a:solidFill>
                  <a:srgbClr val="9E8047"/>
                </a:solidFill>
              </a:rPr>
              <a:t>▸ </a:t>
            </a:r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4A5568"/>
                </a:solidFill>
              </a:rPr>
              <a:t>Every tool hash-pinned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366260" y="2468880"/>
            <a:ext cx="3456432" cy="3474720"/>
          </a:xfrm>
          <a:prstGeom prst="roundRect">
            <a:avLst>
              <a:gd name="adj" fmla="val 2646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38100" dir="5400000">
              <a:srgbClr val="0A1931">
                <a:alpha val="6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4640580" y="2697480"/>
            <a:ext cx="29077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TIME-TRAVEL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4640580" y="2971800"/>
            <a:ext cx="2907792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A193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f6cdbd0a07f2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4640580" y="3520440"/>
            <a:ext cx="29077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12-char · verifiable:true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4640580" y="4023360"/>
            <a:ext cx="365760" cy="0"/>
          </a:xfrm>
          <a:prstGeom prst="line">
            <a:avLst/>
          </a:prstGeom>
          <a:noFill/>
          <a:ln w="19050">
            <a:solidFill>
              <a:srgbClr val="8B5CF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640580" y="4160520"/>
            <a:ext cx="2907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Time-Travel Hash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4640580" y="4526280"/>
            <a:ext cx="2907792" cy="12801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500"/>
              </a:spcAft>
              <a:buNone/>
            </a:pPr>
            <a:r>
              <a:rPr lang="en-US" sz="1000" b="1" dirty="0">
                <a:solidFill>
                  <a:srgbClr val="8B5CF6"/>
                </a:solidFill>
              </a:rPr>
              <a:t>▸ </a:t>
            </a:r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4A5568"/>
                </a:solidFill>
              </a:rPr>
              <a:t>Diff before / after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b="1" dirty="0">
                <a:solidFill>
                  <a:srgbClr val="8B5CF6"/>
                </a:solidFill>
              </a:rPr>
              <a:t>▸ </a:t>
            </a:r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4A5568"/>
                </a:solidFill>
              </a:rPr>
              <a:t>Rollback any change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b="1" dirty="0">
                <a:solidFill>
                  <a:srgbClr val="8B5CF6"/>
                </a:solidFill>
              </a:rPr>
              <a:t>▸ </a:t>
            </a:r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4A5568"/>
                </a:solidFill>
              </a:rPr>
              <a:t>Hash stable across adds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8051292" y="2468880"/>
            <a:ext cx="3456432" cy="3474720"/>
          </a:xfrm>
          <a:prstGeom prst="roundRect">
            <a:avLst>
              <a:gd name="adj" fmla="val 2646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38100" dir="5400000">
              <a:srgbClr val="0A1931">
                <a:alpha val="6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8325612" y="2697480"/>
            <a:ext cx="29077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LEDGER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8325612" y="2971800"/>
            <a:ext cx="2907792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0A193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base64</a:t>
            </a:r>
            <a:endParaRPr lang="en-US" sz="3800" dirty="0"/>
          </a:p>
        </p:txBody>
      </p:sp>
      <p:sp>
        <p:nvSpPr>
          <p:cNvPr id="23" name="Text 20"/>
          <p:cNvSpPr/>
          <p:nvPr/>
        </p:nvSpPr>
        <p:spPr>
          <a:xfrm>
            <a:off x="8325612" y="3657600"/>
            <a:ext cx="29077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screenshots encoded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8325612" y="4023360"/>
            <a:ext cx="365760" cy="0"/>
          </a:xfrm>
          <a:prstGeom prst="line">
            <a:avLst/>
          </a:prstGeom>
          <a:noFill/>
          <a:ln w="19050">
            <a:solidFill>
              <a:srgbClr val="10B981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325612" y="4160520"/>
            <a:ext cx="2907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Ledger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8325612" y="4526280"/>
            <a:ext cx="2907792" cy="12801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500"/>
              </a:spcAft>
              <a:buNone/>
            </a:pPr>
            <a:r>
              <a:rPr lang="en-US" sz="1000" b="1" dirty="0">
                <a:solidFill>
                  <a:srgbClr val="10B981"/>
                </a:solidFill>
              </a:rPr>
              <a:t>▸ </a:t>
            </a:r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4A5568"/>
                </a:solidFill>
              </a:rPr>
              <a:t>Every chain run captured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b="1" dirty="0">
                <a:solidFill>
                  <a:srgbClr val="10B981"/>
                </a:solidFill>
              </a:rPr>
              <a:t>▸ </a:t>
            </a:r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4A5568"/>
                </a:solidFill>
              </a:rPr>
              <a:t>Hash-bound to manifest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b="1" dirty="0">
                <a:solidFill>
                  <a:srgbClr val="10B981"/>
                </a:solidFill>
              </a:rPr>
              <a:t>▸ </a:t>
            </a:r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4A5568"/>
                </a:solidFill>
              </a:rPr>
              <a:t>Evidence, not pitch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64008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AURUM FORGE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7891272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400" kern="0" dirty="0">
                <a:solidFill>
                  <a:srgbClr val="8A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OF POSSIBLE 2026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6048756" y="6464808"/>
            <a:ext cx="91440" cy="91440"/>
          </a:xfrm>
          <a:prstGeom prst="ellipse">
            <a:avLst/>
          </a:prstGeom>
          <a:solidFill>
            <a:srgbClr val="C6A96B"/>
          </a:solidFill>
          <a:ln/>
        </p:spPr>
      </p:sp>
      <p:sp>
        <p:nvSpPr>
          <p:cNvPr id="30" name="Text 27"/>
          <p:cNvSpPr/>
          <p:nvPr/>
        </p:nvSpPr>
        <p:spPr>
          <a:xfrm>
            <a:off x="5545836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8A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13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aurum_forge_logo_c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457200"/>
            <a:ext cx="73152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10515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0A19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Forge-Ready in 10 Seconds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640080" y="169164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 theme, IDE injector, downloadable Skill Bridge — three DX surfaces, one forge.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640080" y="2057400"/>
            <a:ext cx="457200" cy="0"/>
          </a:xfrm>
          <a:prstGeom prst="line">
            <a:avLst/>
          </a:prstGeom>
          <a:noFill/>
          <a:ln w="25400">
            <a:solidFill>
              <a:srgbClr val="C6A96B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81228" y="2423160"/>
            <a:ext cx="3456432" cy="3383280"/>
          </a:xfrm>
          <a:prstGeom prst="roundRect">
            <a:avLst>
              <a:gd name="adj" fmla="val 2703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38100" dir="5400000">
              <a:srgbClr val="0A1931">
                <a:alpha val="6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955548" y="2651760"/>
            <a:ext cx="290779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9E8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  THEME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955548" y="3063240"/>
            <a:ext cx="1417320" cy="1005840"/>
          </a:xfrm>
          <a:prstGeom prst="roundRect">
            <a:avLst>
              <a:gd name="adj" fmla="val 5455"/>
            </a:avLst>
          </a:prstGeom>
          <a:solidFill>
            <a:srgbClr val="FFFBF0"/>
          </a:solidFill>
          <a:ln w="12700">
            <a:solidFill>
              <a:srgbClr val="C6A96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55548" y="3319272"/>
            <a:ext cx="1417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CREAM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955548" y="3611880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E804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#FFFBF0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2537460" y="3063240"/>
            <a:ext cx="141732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C6A96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537460" y="3319272"/>
            <a:ext cx="1417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2537460" y="3611880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E804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#FFFFFF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955548" y="4251960"/>
            <a:ext cx="29077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9E8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 PRESERVED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955548" y="4480560"/>
            <a:ext cx="2907792" cy="164592"/>
          </a:xfrm>
          <a:prstGeom prst="roundRect">
            <a:avLst>
              <a:gd name="adj" fmla="val 50000"/>
            </a:avLst>
          </a:prstGeom>
          <a:solidFill>
            <a:srgbClr val="F5EDD8"/>
          </a:solidFill>
          <a:ln/>
        </p:spPr>
      </p:sp>
      <p:sp>
        <p:nvSpPr>
          <p:cNvPr id="16" name="Shape 13"/>
          <p:cNvSpPr/>
          <p:nvPr/>
        </p:nvSpPr>
        <p:spPr>
          <a:xfrm>
            <a:off x="955548" y="4480560"/>
            <a:ext cx="2035454" cy="164592"/>
          </a:xfrm>
          <a:prstGeom prst="roundRect">
            <a:avLst>
              <a:gd name="adj" fmla="val 50000"/>
            </a:avLst>
          </a:prstGeom>
          <a:solidFill>
            <a:srgbClr val="C6A96B"/>
          </a:solidFill>
          <a:ln/>
        </p:spPr>
      </p:sp>
      <p:sp>
        <p:nvSpPr>
          <p:cNvPr id="17" name="Text 14"/>
          <p:cNvSpPr/>
          <p:nvPr/>
        </p:nvSpPr>
        <p:spPr>
          <a:xfrm>
            <a:off x="3360420" y="4480560"/>
            <a:ext cx="502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A193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70%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955548" y="4846320"/>
            <a:ext cx="365760" cy="0"/>
          </a:xfrm>
          <a:prstGeom prst="line">
            <a:avLst/>
          </a:prstGeom>
          <a:noFill/>
          <a:ln w="12700">
            <a:solidFill>
              <a:srgbClr val="C6A96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55548" y="5029200"/>
            <a:ext cx="2907792" cy="7772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500"/>
              </a:spcAft>
              <a:buNone/>
            </a:pPr>
            <a:r>
              <a:rPr lang="en-US" sz="1000" b="1" dirty="0">
                <a:solidFill>
                  <a:srgbClr val="C6A96B"/>
                </a:solidFill>
              </a:rPr>
              <a:t>▸ </a:t>
            </a:r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4A5568"/>
                </a:solidFill>
              </a:rPr>
              <a:t>Cream ↔ White toggle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b="1" dirty="0">
                <a:solidFill>
                  <a:srgbClr val="C6A96B"/>
                </a:solidFill>
              </a:rPr>
              <a:t>▸ </a:t>
            </a:r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4A5568"/>
                </a:solidFill>
              </a:rPr>
              <a:t>Brand mark preserved across themes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b="1" dirty="0">
                <a:solidFill>
                  <a:srgbClr val="C6A96B"/>
                </a:solidFill>
              </a:rPr>
              <a:t>▸ </a:t>
            </a:r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4A5568"/>
                </a:solidFill>
              </a:rPr>
              <a:t>No theme-flash on load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4366260" y="2423160"/>
            <a:ext cx="3456432" cy="3383280"/>
          </a:xfrm>
          <a:prstGeom prst="roundRect">
            <a:avLst>
              <a:gd name="adj" fmla="val 2703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38100" dir="5400000">
              <a:srgbClr val="0A1931">
                <a:alpha val="6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4640580" y="2651760"/>
            <a:ext cx="290779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9E8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  INJECTOR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4640580" y="2926080"/>
            <a:ext cx="2907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1-Click  Antigravity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4640580" y="3337560"/>
            <a:ext cx="292608" cy="29260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4" name="Text 21"/>
          <p:cNvSpPr/>
          <p:nvPr/>
        </p:nvSpPr>
        <p:spPr>
          <a:xfrm>
            <a:off x="4640580" y="333756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5052060" y="3355848"/>
            <a:ext cx="2496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Normalized  Path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4640580" y="3703320"/>
            <a:ext cx="292608" cy="29260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7" name="Text 24"/>
          <p:cNvSpPr/>
          <p:nvPr/>
        </p:nvSpPr>
        <p:spPr>
          <a:xfrm>
            <a:off x="4640580" y="37033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5052060" y="3721608"/>
            <a:ext cx="2496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3.14.6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640580" y="4069080"/>
            <a:ext cx="292608" cy="29260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0" name="Text 27"/>
          <p:cNvSpPr/>
          <p:nvPr/>
        </p:nvSpPr>
        <p:spPr>
          <a:xfrm>
            <a:off x="4640580" y="406908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5052060" y="4087368"/>
            <a:ext cx="2496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FastMCP  Import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4640580" y="4434840"/>
            <a:ext cx="292608" cy="29260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3" name="Text 30"/>
          <p:cNvSpPr/>
          <p:nvPr/>
        </p:nvSpPr>
        <p:spPr>
          <a:xfrm>
            <a:off x="4640580" y="443484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5052060" y="4453128"/>
            <a:ext cx="2496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Aurum  Gold  Verified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640580" y="5029200"/>
            <a:ext cx="365760" cy="0"/>
          </a:xfrm>
          <a:prstGeom prst="line">
            <a:avLst/>
          </a:prstGeom>
          <a:noFill/>
          <a:ln w="12700">
            <a:solidFill>
              <a:srgbClr val="C6A96B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640580" y="5166360"/>
            <a:ext cx="2907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real  file  write  ·  no  mock  ·  no  dry  run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8051292" y="2423160"/>
            <a:ext cx="3456432" cy="3383280"/>
          </a:xfrm>
          <a:prstGeom prst="roundRect">
            <a:avLst>
              <a:gd name="adj" fmla="val 2703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38100" dir="5400000">
              <a:srgbClr val="0A1931">
                <a:alpha val="6000"/>
              </a:srgbClr>
            </a:outerShdw>
          </a:effectLst>
        </p:spPr>
      </p:sp>
      <p:sp>
        <p:nvSpPr>
          <p:cNvPr id="38" name="Text 35"/>
          <p:cNvSpPr/>
          <p:nvPr/>
        </p:nvSpPr>
        <p:spPr>
          <a:xfrm>
            <a:off x="8325612" y="2651760"/>
            <a:ext cx="290779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9E8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 BRIDGE</a:t>
            </a:r>
            <a:endParaRPr lang="en-US" sz="1000" dirty="0"/>
          </a:p>
        </p:txBody>
      </p:sp>
      <p:sp>
        <p:nvSpPr>
          <p:cNvPr id="39" name="Text 36"/>
          <p:cNvSpPr/>
          <p:nvPr/>
        </p:nvSpPr>
        <p:spPr>
          <a:xfrm>
            <a:off x="8325612" y="2926080"/>
            <a:ext cx="2907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 files  ·  /</a:t>
            </a:r>
            <a:endParaRPr lang="en-US" sz="1300" dirty="0"/>
          </a:p>
        </p:txBody>
      </p:sp>
      <p:sp>
        <p:nvSpPr>
          <p:cNvPr id="40" name="Shape 37"/>
          <p:cNvSpPr/>
          <p:nvPr/>
        </p:nvSpPr>
        <p:spPr>
          <a:xfrm>
            <a:off x="8325612" y="3337560"/>
            <a:ext cx="2907792" cy="731520"/>
          </a:xfrm>
          <a:prstGeom prst="roundRect">
            <a:avLst>
              <a:gd name="adj" fmla="val 10000"/>
            </a:avLst>
          </a:prstGeom>
          <a:solidFill>
            <a:srgbClr val="0A1931"/>
          </a:solidFill>
          <a:ln/>
          <a:effectLst>
            <a:outerShdw sx="100000" sy="100000" kx="0" ky="0" algn="bl" rotWithShape="0" blurRad="101600" dist="25400" dir="5400000">
              <a:srgbClr val="0A1931">
                <a:alpha val="8000"/>
              </a:srgbClr>
            </a:outerShdw>
          </a:effectLst>
        </p:spPr>
      </p:sp>
      <p:sp>
        <p:nvSpPr>
          <p:cNvPr id="41" name="Text 38"/>
          <p:cNvSpPr/>
          <p:nvPr/>
        </p:nvSpPr>
        <p:spPr>
          <a:xfrm>
            <a:off x="8508492" y="3429000"/>
            <a:ext cx="25420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dist/unified-mcp.zip</a:t>
            </a:r>
            <a:endParaRPr lang="en-US" sz="1100" dirty="0"/>
          </a:p>
        </p:txBody>
      </p:sp>
      <p:sp>
        <p:nvSpPr>
          <p:cNvPr id="42" name="Text 39"/>
          <p:cNvSpPr/>
          <p:nvPr/>
        </p:nvSpPr>
        <p:spPr>
          <a:xfrm>
            <a:off x="8508492" y="3657600"/>
            <a:ext cx="25420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6A96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&gt;1KB  ·  blob  download</a:t>
            </a:r>
            <a:endParaRPr lang="en-US" sz="900" dirty="0"/>
          </a:p>
        </p:txBody>
      </p:sp>
      <p:sp>
        <p:nvSpPr>
          <p:cNvPr id="43" name="Text 40"/>
          <p:cNvSpPr/>
          <p:nvPr/>
        </p:nvSpPr>
        <p:spPr>
          <a:xfrm>
            <a:off x="8325612" y="429768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5A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py_compile</a:t>
            </a:r>
            <a:endParaRPr lang="en-US" sz="900" dirty="0"/>
          </a:p>
        </p:txBody>
      </p:sp>
      <p:sp>
        <p:nvSpPr>
          <p:cNvPr id="44" name="Shape 41"/>
          <p:cNvSpPr/>
          <p:nvPr/>
        </p:nvSpPr>
        <p:spPr>
          <a:xfrm>
            <a:off x="9468612" y="4297680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/>
        </p:spPr>
      </p:sp>
      <p:sp>
        <p:nvSpPr>
          <p:cNvPr id="45" name="Text 42"/>
          <p:cNvSpPr/>
          <p:nvPr/>
        </p:nvSpPr>
        <p:spPr>
          <a:xfrm>
            <a:off x="9468612" y="42976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900" dirty="0"/>
          </a:p>
        </p:txBody>
      </p:sp>
      <p:sp>
        <p:nvSpPr>
          <p:cNvPr id="46" name="Shape 43"/>
          <p:cNvSpPr/>
          <p:nvPr/>
        </p:nvSpPr>
        <p:spPr>
          <a:xfrm>
            <a:off x="8325612" y="4754880"/>
            <a:ext cx="365760" cy="0"/>
          </a:xfrm>
          <a:prstGeom prst="line">
            <a:avLst/>
          </a:prstGeom>
          <a:noFill/>
          <a:ln w="12700">
            <a:solidFill>
              <a:srgbClr val="C6A96B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8325612" y="4937760"/>
            <a:ext cx="2907792" cy="8686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500"/>
              </a:spcAft>
              <a:buNone/>
            </a:pPr>
            <a:r>
              <a:rPr lang="en-US" sz="1000" b="1" dirty="0">
                <a:solidFill>
                  <a:srgbClr val="C6A96B"/>
                </a:solidFill>
              </a:rPr>
              <a:t>▸ </a:t>
            </a:r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4A5568"/>
                </a:solidFill>
              </a:rPr>
              <a:t>One zip, every IDE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b="1" dirty="0">
                <a:solidFill>
                  <a:srgbClr val="C6A96B"/>
                </a:solidFill>
              </a:rPr>
              <a:t>▸ </a:t>
            </a:r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4A5568"/>
                </a:solidFill>
              </a:rPr>
              <a:t>No restart, no path edit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b="1" dirty="0">
                <a:solidFill>
                  <a:srgbClr val="C6A96B"/>
                </a:solidFill>
              </a:rPr>
              <a:t>▸ </a:t>
            </a:r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4A5568"/>
                </a:solidFill>
              </a:rPr>
              <a:t>Hash-stable across rebuilds</a:t>
            </a:r>
            <a:endParaRPr lang="en-US" sz="1000" dirty="0"/>
          </a:p>
        </p:txBody>
      </p:sp>
      <p:sp>
        <p:nvSpPr>
          <p:cNvPr id="48" name="Shape 45"/>
          <p:cNvSpPr/>
          <p:nvPr/>
        </p:nvSpPr>
        <p:spPr>
          <a:xfrm>
            <a:off x="640080" y="6035040"/>
            <a:ext cx="10908792" cy="365760"/>
          </a:xfrm>
          <a:prstGeom prst="roundRect">
            <a:avLst>
              <a:gd name="adj" fmla="val 50000"/>
            </a:avLst>
          </a:prstGeom>
          <a:solidFill>
            <a:srgbClr val="C6A96B"/>
          </a:solidFill>
          <a:ln/>
          <a:effectLst>
            <a:outerShdw sx="100000" sy="100000" kx="0" ky="0" algn="bl" rotWithShape="0" blurRad="127000" dist="25400" dir="5400000">
              <a:srgbClr val="9E8047">
                <a:alpha val="12000"/>
              </a:srgbClr>
            </a:outerShdw>
          </a:effectLst>
        </p:spPr>
      </p:sp>
      <p:sp>
        <p:nvSpPr>
          <p:cNvPr id="49" name="Text 46"/>
          <p:cNvSpPr/>
          <p:nvPr/>
        </p:nvSpPr>
        <p:spPr>
          <a:xfrm>
            <a:off x="640080" y="603504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USABLE  IN  10  SECONDS    ·    @forge-aurum-hub</a:t>
            </a:r>
            <a:endParaRPr lang="en-US" sz="1100" dirty="0"/>
          </a:p>
        </p:txBody>
      </p:sp>
      <p:sp>
        <p:nvSpPr>
          <p:cNvPr id="50" name="Text 47"/>
          <p:cNvSpPr/>
          <p:nvPr/>
        </p:nvSpPr>
        <p:spPr>
          <a:xfrm>
            <a:off x="64008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AURUM FORGE</a:t>
            </a:r>
            <a:endParaRPr lang="en-US" sz="900" dirty="0"/>
          </a:p>
        </p:txBody>
      </p:sp>
      <p:sp>
        <p:nvSpPr>
          <p:cNvPr id="51" name="Text 48"/>
          <p:cNvSpPr/>
          <p:nvPr/>
        </p:nvSpPr>
        <p:spPr>
          <a:xfrm>
            <a:off x="7891272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400" kern="0" dirty="0">
                <a:solidFill>
                  <a:srgbClr val="8A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OF POSSIBLE 2026</a:t>
            </a:r>
            <a:endParaRPr lang="en-US" sz="900" dirty="0"/>
          </a:p>
        </p:txBody>
      </p:sp>
      <p:sp>
        <p:nvSpPr>
          <p:cNvPr id="52" name="Shape 49"/>
          <p:cNvSpPr/>
          <p:nvPr/>
        </p:nvSpPr>
        <p:spPr>
          <a:xfrm>
            <a:off x="6048756" y="6464808"/>
            <a:ext cx="91440" cy="91440"/>
          </a:xfrm>
          <a:prstGeom prst="ellipse">
            <a:avLst/>
          </a:prstGeom>
          <a:solidFill>
            <a:srgbClr val="C6A96B"/>
          </a:solidFill>
          <a:ln/>
        </p:spPr>
      </p:sp>
      <p:sp>
        <p:nvSpPr>
          <p:cNvPr id="53" name="Text 50"/>
          <p:cNvSpPr/>
          <p:nvPr/>
        </p:nvSpPr>
        <p:spPr>
          <a:xfrm>
            <a:off x="5545836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8A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13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9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aurum_forge_logo_c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85832" y="457200"/>
            <a:ext cx="1463040" cy="7315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10515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C6A9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Zero-LLM Runtime Under 2.1s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640080" y="16916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5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models, one forge, zero runtime cost. The orchestration stays in-process.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640080" y="2057400"/>
            <a:ext cx="457200" cy="0"/>
          </a:xfrm>
          <a:prstGeom prst="line">
            <a:avLst/>
          </a:prstGeom>
          <a:noFill/>
          <a:ln w="25400">
            <a:solidFill>
              <a:srgbClr val="C6A96B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90956" y="2423160"/>
            <a:ext cx="5074920" cy="3246120"/>
          </a:xfrm>
          <a:prstGeom prst="roundRect">
            <a:avLst>
              <a:gd name="adj" fmla="val 2817"/>
            </a:avLst>
          </a:prstGeom>
          <a:solidFill>
            <a:srgbClr val="1E3A5F"/>
          </a:solidFill>
          <a:ln w="12700">
            <a:solidFill>
              <a:srgbClr val="C6A96B"/>
            </a:solidFill>
            <a:prstDash val="solid"/>
          </a:ln>
          <a:effectLst>
            <a:outerShdw sx="100000" sy="100000" kx="0" ky="0" algn="bl" rotWithShape="0" blurRad="127000" dist="25400" dir="5400000">
              <a:srgbClr val="9E8047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110996" y="2743200"/>
            <a:ext cx="164592" cy="164592"/>
          </a:xfrm>
          <a:prstGeom prst="ellipse">
            <a:avLst/>
          </a:prstGeom>
          <a:solidFill>
            <a:srgbClr val="C6A96B"/>
          </a:solidFill>
          <a:ln/>
        </p:spPr>
      </p:sp>
      <p:sp>
        <p:nvSpPr>
          <p:cNvPr id="8" name="Text 5"/>
          <p:cNvSpPr/>
          <p:nvPr/>
        </p:nvSpPr>
        <p:spPr>
          <a:xfrm>
            <a:off x="1385316" y="269748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6A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 A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10996" y="3017520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GLM  5.3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1110996" y="3566160"/>
            <a:ext cx="4434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6A96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reasoning  ·  code  ·  orchestration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1110996" y="3931920"/>
            <a:ext cx="457200" cy="0"/>
          </a:xfrm>
          <a:prstGeom prst="line">
            <a:avLst/>
          </a:prstGeom>
          <a:noFill/>
          <a:ln w="19050">
            <a:solidFill>
              <a:srgbClr val="C6A96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10996" y="4114800"/>
            <a:ext cx="4434840" cy="1143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C6A96B"/>
                </a:solidFill>
              </a:rPr>
              <a:t>▸ </a:t>
            </a:r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C5CFE0"/>
                </a:solidFill>
              </a:rPr>
              <a:t>Chain orchestration across 5 prebuilt flows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C6A96B"/>
                </a:solidFill>
              </a:rPr>
              <a:t>▸ </a:t>
            </a:r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C5CFE0"/>
                </a:solidFill>
              </a:rPr>
              <a:t>Code generation for new tool adapters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C6A96B"/>
                </a:solidFill>
              </a:rPr>
              <a:t>▸ </a:t>
            </a:r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C5CFE0"/>
                </a:solidFill>
              </a:rPr>
              <a:t>Multi-step reasoning over tool results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C6A96B"/>
                </a:solidFill>
              </a:rPr>
              <a:t>▸ </a:t>
            </a:r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C5CFE0"/>
                </a:solidFill>
              </a:rPr>
              <a:t>Native function-calling, no boilerplate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1110996" y="5349240"/>
            <a:ext cx="4434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6A96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in-process  ·  sub-2.1s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6323076" y="2423160"/>
            <a:ext cx="5074920" cy="3246120"/>
          </a:xfrm>
          <a:prstGeom prst="roundRect">
            <a:avLst>
              <a:gd name="adj" fmla="val 2817"/>
            </a:avLst>
          </a:prstGeom>
          <a:solidFill>
            <a:srgbClr val="1E3A5F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27000" dist="25400" dir="5400000">
              <a:srgbClr val="9E8047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643116" y="2743200"/>
            <a:ext cx="164592" cy="16459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6" name="Text 13"/>
          <p:cNvSpPr/>
          <p:nvPr/>
        </p:nvSpPr>
        <p:spPr>
          <a:xfrm>
            <a:off x="6917436" y="269748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 B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6643116" y="3017520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Gemini  3.7  Flash</a:t>
            </a:r>
            <a:endParaRPr lang="en-US" sz="2600" dirty="0"/>
          </a:p>
        </p:txBody>
      </p:sp>
      <p:sp>
        <p:nvSpPr>
          <p:cNvPr id="18" name="Text 15"/>
          <p:cNvSpPr/>
          <p:nvPr/>
        </p:nvSpPr>
        <p:spPr>
          <a:xfrm>
            <a:off x="6643116" y="3566160"/>
            <a:ext cx="4434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B82F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UX  ·  theme  ·  injector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643116" y="3931920"/>
            <a:ext cx="457200" cy="0"/>
          </a:xfrm>
          <a:prstGeom prst="line">
            <a:avLst/>
          </a:prstGeom>
          <a:noFill/>
          <a:ln w="19050">
            <a:solidFill>
              <a:srgbClr val="3B82F6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643116" y="4114800"/>
            <a:ext cx="4434840" cy="1143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3B82F6"/>
                </a:solidFill>
              </a:rPr>
              <a:t>▸ </a:t>
            </a:r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C5CFE0"/>
                </a:solidFill>
              </a:rPr>
              <a:t>White theme rendering &amp; gold preservation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3B82F6"/>
                </a:solidFill>
              </a:rPr>
              <a:t>▸ </a:t>
            </a:r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C5CFE0"/>
                </a:solidFill>
              </a:rPr>
              <a:t>IDE injector 1-click Antigravity flow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3B82F6"/>
                </a:solidFill>
              </a:rPr>
              <a:t>▸ </a:t>
            </a:r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C5CFE0"/>
                </a:solidFill>
              </a:rPr>
              <a:t>Skill Bridge dist packaging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3B82F6"/>
                </a:solidFill>
              </a:rPr>
              <a:t>▸ </a:t>
            </a:r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C5CFE0"/>
                </a:solidFill>
              </a:rPr>
              <a:t>Realtime UX polish on every surface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6643116" y="5349240"/>
            <a:ext cx="4434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3B82F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in-process  ·  sub-2.1s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640080" y="5715000"/>
            <a:ext cx="10908792" cy="411480"/>
          </a:xfrm>
          <a:prstGeom prst="roundRect">
            <a:avLst>
              <a:gd name="adj" fmla="val 33333"/>
            </a:avLst>
          </a:prstGeom>
          <a:solidFill>
            <a:srgbClr val="1E3A5F"/>
          </a:solidFill>
          <a:ln w="12700">
            <a:solidFill>
              <a:srgbClr val="C6A96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40080" y="5715000"/>
            <a:ext cx="10908792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C6A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 COST:    </a:t>
            </a:r>
            <a:pPr algn="ctr" indent="0" marL="0">
              <a:buNone/>
            </a:pPr>
            <a:r>
              <a:rPr lang="en-US" sz="1400" b="1" dirty="0">
                <a:solidFill>
                  <a:srgbClr val="C6A96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$0</a:t>
            </a:r>
            <a:pPr algn="ctr" indent="0" marL="0">
              <a:buNone/>
            </a:pPr>
            <a:r>
              <a:rPr lang="en-US" sz="1000" dirty="0">
                <a:solidFill>
                  <a:srgbClr val="C5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vs  </a:t>
            </a:r>
            <a:pPr algn="ctr" indent="0" marL="0">
              <a:buNone/>
            </a:pPr>
            <a:r>
              <a:rPr lang="en-US" sz="1200" strike="sngStrike" dirty="0">
                <a:solidFill>
                  <a:srgbClr val="8A95A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$0.80</a:t>
            </a:r>
            <a:pPr algn="ctr" indent="0" marL="0">
              <a:buNone/>
            </a:pPr>
            <a:r>
              <a:rPr lang="en-US" sz="1100" b="1" spc="300" kern="0" dirty="0">
                <a:solidFill>
                  <a:srgbClr val="C6A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·      TOKENS  BURNED:    </a:t>
            </a:r>
            <a:pPr algn="ctr" indent="0" marL="0">
              <a:buNone/>
            </a:pPr>
            <a:r>
              <a:rPr lang="en-US" sz="1400" b="1" dirty="0">
                <a:solidFill>
                  <a:srgbClr val="C6A96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</a:t>
            </a:r>
            <a:pPr algn="ctr" indent="0" marL="0">
              <a:buNone/>
            </a:pPr>
            <a:r>
              <a:rPr lang="en-US" sz="1000" dirty="0">
                <a:solidFill>
                  <a:srgbClr val="C5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vs  </a:t>
            </a:r>
            <a:pPr algn="ctr" indent="0" marL="0">
              <a:buNone/>
            </a:pPr>
            <a:r>
              <a:rPr lang="en-US" sz="1200" strike="sngStrike" dirty="0">
                <a:solidFill>
                  <a:srgbClr val="8A95A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45k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64008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AURUM FORGE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5545836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8A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13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7891272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400" kern="0" dirty="0">
                <a:solidFill>
                  <a:srgbClr val="8A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OF POSSIBLE 2026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B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aurum_forge_logo_c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37076" y="1097280"/>
            <a:ext cx="4114800" cy="2057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3246120"/>
            <a:ext cx="12188952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spc="1200" kern="0" dirty="0">
                <a:solidFill>
                  <a:srgbClr val="0A19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AURUM FORGE</a:t>
            </a:r>
            <a:endParaRPr lang="en-US" sz="4800" dirty="0"/>
          </a:p>
        </p:txBody>
      </p:sp>
      <p:sp>
        <p:nvSpPr>
          <p:cNvPr id="4" name="Shape 1"/>
          <p:cNvSpPr/>
          <p:nvPr/>
        </p:nvSpPr>
        <p:spPr>
          <a:xfrm>
            <a:off x="5545836" y="4023360"/>
            <a:ext cx="1097280" cy="0"/>
          </a:xfrm>
          <a:prstGeom prst="line">
            <a:avLst/>
          </a:prstGeom>
          <a:noFill/>
          <a:ln w="25400">
            <a:solidFill>
              <a:srgbClr val="C6A96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0" y="4160520"/>
            <a:ext cx="12188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500" kern="0" dirty="0">
                <a:solidFill>
                  <a:srgbClr val="9E8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  ONCE    ·    USE  EVERYWHERE    ·    VERIFY  FOREVER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4722876" y="4617720"/>
            <a:ext cx="2743200" cy="384048"/>
          </a:xfrm>
          <a:prstGeom prst="roundRect">
            <a:avLst>
              <a:gd name="adj" fmla="val 50000"/>
            </a:avLst>
          </a:prstGeom>
          <a:solidFill>
            <a:srgbClr val="0A1931"/>
          </a:solidFill>
          <a:ln/>
        </p:spPr>
      </p:sp>
      <p:sp>
        <p:nvSpPr>
          <p:cNvPr id="7" name="Text 4"/>
          <p:cNvSpPr/>
          <p:nvPr/>
        </p:nvSpPr>
        <p:spPr>
          <a:xfrm>
            <a:off x="4722876" y="461772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C6A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 FOR  DEVPOST  ·  $9K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408676" y="5166360"/>
            <a:ext cx="1371600" cy="13716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25400">
            <a:solidFill>
              <a:srgbClr val="C6A96B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500116" y="5257800"/>
            <a:ext cx="164592" cy="0"/>
          </a:xfrm>
          <a:prstGeom prst="line">
            <a:avLst/>
          </a:prstGeom>
          <a:noFill/>
          <a:ln w="19050">
            <a:solidFill>
              <a:srgbClr val="C6A96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500116" y="5257800"/>
            <a:ext cx="0" cy="164592"/>
          </a:xfrm>
          <a:prstGeom prst="line">
            <a:avLst/>
          </a:prstGeom>
          <a:noFill/>
          <a:ln w="19050">
            <a:solidFill>
              <a:srgbClr val="C6A96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524244" y="5257800"/>
            <a:ext cx="164592" cy="0"/>
          </a:xfrm>
          <a:prstGeom prst="line">
            <a:avLst/>
          </a:prstGeom>
          <a:noFill/>
          <a:ln w="19050">
            <a:solidFill>
              <a:srgbClr val="C6A96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688836" y="5257800"/>
            <a:ext cx="0" cy="164592"/>
          </a:xfrm>
          <a:prstGeom prst="line">
            <a:avLst/>
          </a:prstGeom>
          <a:noFill/>
          <a:ln w="19050">
            <a:solidFill>
              <a:srgbClr val="C6A96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500116" y="6446520"/>
            <a:ext cx="164592" cy="0"/>
          </a:xfrm>
          <a:prstGeom prst="line">
            <a:avLst/>
          </a:prstGeom>
          <a:noFill/>
          <a:ln w="19050">
            <a:solidFill>
              <a:srgbClr val="C6A96B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500116" y="6281928"/>
            <a:ext cx="0" cy="164592"/>
          </a:xfrm>
          <a:prstGeom prst="line">
            <a:avLst/>
          </a:prstGeom>
          <a:noFill/>
          <a:ln w="19050">
            <a:solidFill>
              <a:srgbClr val="C6A96B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524244" y="6446520"/>
            <a:ext cx="164592" cy="0"/>
          </a:xfrm>
          <a:prstGeom prst="line">
            <a:avLst/>
          </a:prstGeom>
          <a:noFill/>
          <a:ln w="19050">
            <a:solidFill>
              <a:srgbClr val="C6A96B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688836" y="6281928"/>
            <a:ext cx="0" cy="164592"/>
          </a:xfrm>
          <a:prstGeom prst="line">
            <a:avLst/>
          </a:prstGeom>
          <a:noFill/>
          <a:ln w="19050">
            <a:solidFill>
              <a:srgbClr val="C6A96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408676" y="557784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spc="400" kern="0" dirty="0">
                <a:solidFill>
                  <a:srgbClr val="C6A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5134356" y="6611112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9E8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for Demo Video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640080" y="644652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9E8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1325880" y="64465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193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aurum-forge.vercel.app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7891272" y="64465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400" kern="0" dirty="0">
                <a:solidFill>
                  <a:srgbClr val="9E8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 OF  POSSIBLE   ·  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Aurum Forge — Proof of Possible 2026</dc:title>
  <dc:subject>PptxGenJS Presentation</dc:subject>
  <dc:creator>Aurum Forge</dc:creator>
  <cp:lastModifiedBy>Aurum Forge</cp:lastModifiedBy>
  <cp:revision>1</cp:revision>
  <dcterms:created xsi:type="dcterms:W3CDTF">2026-08-20T10:57:46Z</dcterms:created>
  <dcterms:modified xsi:type="dcterms:W3CDTF">2026-08-20T10:57:46Z</dcterms:modified>
</cp:coreProperties>
</file>